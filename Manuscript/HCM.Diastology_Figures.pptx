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62" r:id="rId3"/>
    <p:sldId id="257" r:id="rId4"/>
    <p:sldId id="258" r:id="rId5"/>
    <p:sldId id="259" r:id="rId6"/>
    <p:sldId id="261" r:id="rId7"/>
  </p:sldIdLst>
  <p:sldSz cx="68580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8FB"/>
    <a:srgbClr val="486B8E"/>
    <a:srgbClr val="8D9EAB"/>
    <a:srgbClr val="D8DDE0"/>
    <a:srgbClr val="6A9D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99"/>
    <p:restoredTop sz="94659"/>
  </p:normalViewPr>
  <p:slideViewPr>
    <p:cSldViewPr snapToGrid="0">
      <p:cViewPr>
        <p:scale>
          <a:sx n="80" d="100"/>
          <a:sy n="80" d="100"/>
        </p:scale>
        <p:origin x="5128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24957-D724-4443-BCD7-9DE0F585F84B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76488" y="1143000"/>
            <a:ext cx="2105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7B72B6-2BB0-8C44-8463-E504E6913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502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7B72B6-2BB0-8C44-8463-E504E691398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580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7B72B6-2BB0-8C44-8463-E504E691398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278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46133"/>
            <a:ext cx="5829300" cy="350181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82989"/>
            <a:ext cx="5143500" cy="242845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4BB2A-9C29-D240-A60F-6AF8E7888DB9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368E7-47C2-714D-ACFB-C04279A9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551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4BB2A-9C29-D240-A60F-6AF8E7888DB9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368E7-47C2-714D-ACFB-C04279A9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742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507618"/>
            <a:ext cx="5915025" cy="418401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731215"/>
            <a:ext cx="5915025" cy="2200274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4BB2A-9C29-D240-A60F-6AF8E7888DB9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368E7-47C2-714D-ACFB-C04279A9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37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77584"/>
            <a:ext cx="291465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77584"/>
            <a:ext cx="291465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4BB2A-9C29-D240-A60F-6AF8E7888DB9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368E7-47C2-714D-ACFB-C04279A9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9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35519"/>
            <a:ext cx="591502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65706"/>
            <a:ext cx="2901255" cy="120840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74110"/>
            <a:ext cx="2901255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65706"/>
            <a:ext cx="2915543" cy="120840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74110"/>
            <a:ext cx="2915543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4BB2A-9C29-D240-A60F-6AF8E7888DB9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368E7-47C2-714D-ACFB-C04279A9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138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4BB2A-9C29-D240-A60F-6AF8E7888DB9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368E7-47C2-714D-ACFB-C04279A9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825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4BB2A-9C29-D240-A60F-6AF8E7888DB9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368E7-47C2-714D-ACFB-C04279A9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633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70560"/>
            <a:ext cx="2211884" cy="234696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48226"/>
            <a:ext cx="3471863" cy="714798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017520"/>
            <a:ext cx="2211884" cy="5590329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4BB2A-9C29-D240-A60F-6AF8E7888DB9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368E7-47C2-714D-ACFB-C04279A9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377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70560"/>
            <a:ext cx="2211884" cy="234696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48226"/>
            <a:ext cx="3471863" cy="714798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017520"/>
            <a:ext cx="2211884" cy="5590329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4BB2A-9C29-D240-A60F-6AF8E7888DB9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368E7-47C2-714D-ACFB-C04279A9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467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4BB2A-9C29-D240-A60F-6AF8E7888DB9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368E7-47C2-714D-ACFB-C04279A9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39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35517"/>
            <a:ext cx="1478756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35517"/>
            <a:ext cx="4350544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4BB2A-9C29-D240-A60F-6AF8E7888DB9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368E7-47C2-714D-ACFB-C04279A9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344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35519"/>
            <a:ext cx="591502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77584"/>
            <a:ext cx="591502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322649"/>
            <a:ext cx="154305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F4BB2A-9C29-D240-A60F-6AF8E7888DB9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322649"/>
            <a:ext cx="231457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322649"/>
            <a:ext cx="154305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B368E7-47C2-714D-ACFB-C04279A9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343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63F722-9DE8-C48D-6A6F-DDBD70A61A32}"/>
              </a:ext>
            </a:extLst>
          </p:cNvPr>
          <p:cNvSpPr txBox="1"/>
          <p:nvPr/>
        </p:nvSpPr>
        <p:spPr>
          <a:xfrm>
            <a:off x="0" y="0"/>
            <a:ext cx="5448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Graphical Abstract: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Noninvasive diastolic dysfunction and clinical prognosis.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363D11A-C993-8DF6-4296-FF81E553A944}"/>
              </a:ext>
            </a:extLst>
          </p:cNvPr>
          <p:cNvGrpSpPr/>
          <p:nvPr/>
        </p:nvGrpSpPr>
        <p:grpSpPr>
          <a:xfrm>
            <a:off x="280218" y="297318"/>
            <a:ext cx="1961535" cy="2807220"/>
            <a:chOff x="280218" y="297318"/>
            <a:chExt cx="1961535" cy="2807220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58EA36CD-A45B-81E0-1C9E-C74D162A256D}"/>
                </a:ext>
              </a:extLst>
            </p:cNvPr>
            <p:cNvSpPr/>
            <p:nvPr/>
          </p:nvSpPr>
          <p:spPr>
            <a:xfrm>
              <a:off x="280218" y="302344"/>
              <a:ext cx="1961535" cy="2802194"/>
            </a:xfrm>
            <a:prstGeom prst="roundRect">
              <a:avLst>
                <a:gd name="adj" fmla="val 5143"/>
              </a:avLst>
            </a:prstGeom>
            <a:solidFill>
              <a:srgbClr val="F3F8FB"/>
            </a:solidFill>
            <a:ln cap="rnd">
              <a:solidFill>
                <a:srgbClr val="486B8E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B6D46D50-6427-E3DE-B985-8126A8A64912}"/>
                </a:ext>
              </a:extLst>
            </p:cNvPr>
            <p:cNvSpPr/>
            <p:nvPr/>
          </p:nvSpPr>
          <p:spPr>
            <a:xfrm>
              <a:off x="280218" y="297318"/>
              <a:ext cx="1961535" cy="327521"/>
            </a:xfrm>
            <a:prstGeom prst="roundRect">
              <a:avLst>
                <a:gd name="adj" fmla="val 33061"/>
              </a:avLst>
            </a:prstGeom>
            <a:solidFill>
              <a:srgbClr val="486B8E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Study Design &amp; Patient Selection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201B0D0-7D1B-7857-54A9-3D1AFD3C2902}"/>
                </a:ext>
              </a:extLst>
            </p:cNvPr>
            <p:cNvSpPr/>
            <p:nvPr/>
          </p:nvSpPr>
          <p:spPr>
            <a:xfrm>
              <a:off x="280218" y="543559"/>
              <a:ext cx="426720" cy="81279"/>
            </a:xfrm>
            <a:prstGeom prst="rect">
              <a:avLst/>
            </a:prstGeom>
            <a:solidFill>
              <a:srgbClr val="486B8E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8536965-ABF2-BBAC-E893-BD09F027144F}"/>
                </a:ext>
              </a:extLst>
            </p:cNvPr>
            <p:cNvSpPr/>
            <p:nvPr/>
          </p:nvSpPr>
          <p:spPr>
            <a:xfrm>
              <a:off x="1815033" y="543559"/>
              <a:ext cx="426720" cy="81279"/>
            </a:xfrm>
            <a:prstGeom prst="rect">
              <a:avLst/>
            </a:prstGeom>
            <a:solidFill>
              <a:srgbClr val="486B8E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8E3B293-1544-1AED-C565-FAF875720B95}"/>
              </a:ext>
            </a:extLst>
          </p:cNvPr>
          <p:cNvGrpSpPr/>
          <p:nvPr/>
        </p:nvGrpSpPr>
        <p:grpSpPr>
          <a:xfrm>
            <a:off x="2476826" y="297318"/>
            <a:ext cx="1961535" cy="2807220"/>
            <a:chOff x="-2235365" y="276999"/>
            <a:chExt cx="1961535" cy="2807220"/>
          </a:xfrm>
        </p:grpSpPr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B38D7A01-FB01-9DE3-95E6-D43EC722463C}"/>
                </a:ext>
              </a:extLst>
            </p:cNvPr>
            <p:cNvSpPr/>
            <p:nvPr/>
          </p:nvSpPr>
          <p:spPr>
            <a:xfrm>
              <a:off x="-2235365" y="282025"/>
              <a:ext cx="1961535" cy="2802194"/>
            </a:xfrm>
            <a:prstGeom prst="roundRect">
              <a:avLst>
                <a:gd name="adj" fmla="val 5143"/>
              </a:avLst>
            </a:prstGeom>
            <a:solidFill>
              <a:srgbClr val="F3F8FB"/>
            </a:solidFill>
            <a:ln cap="rnd">
              <a:solidFill>
                <a:srgbClr val="486B8E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B769E269-87B5-2A29-4241-F45D317DADC5}"/>
                </a:ext>
              </a:extLst>
            </p:cNvPr>
            <p:cNvSpPr/>
            <p:nvPr/>
          </p:nvSpPr>
          <p:spPr>
            <a:xfrm>
              <a:off x="-2235365" y="276999"/>
              <a:ext cx="1961535" cy="327521"/>
            </a:xfrm>
            <a:prstGeom prst="roundRect">
              <a:avLst>
                <a:gd name="adj" fmla="val 33061"/>
              </a:avLst>
            </a:prstGeom>
            <a:solidFill>
              <a:srgbClr val="486B8E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Functional Assessment &amp; Data Collection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75C06CC-821A-D6C8-E076-F777F149E761}"/>
                </a:ext>
              </a:extLst>
            </p:cNvPr>
            <p:cNvSpPr/>
            <p:nvPr/>
          </p:nvSpPr>
          <p:spPr>
            <a:xfrm>
              <a:off x="-2235365" y="523240"/>
              <a:ext cx="426720" cy="81279"/>
            </a:xfrm>
            <a:prstGeom prst="rect">
              <a:avLst/>
            </a:prstGeom>
            <a:solidFill>
              <a:srgbClr val="486B8E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EFE202C-2F93-36EE-D8AA-72CD4A68A505}"/>
                </a:ext>
              </a:extLst>
            </p:cNvPr>
            <p:cNvSpPr/>
            <p:nvPr/>
          </p:nvSpPr>
          <p:spPr>
            <a:xfrm>
              <a:off x="-700550" y="523240"/>
              <a:ext cx="426720" cy="81279"/>
            </a:xfrm>
            <a:prstGeom prst="rect">
              <a:avLst/>
            </a:prstGeom>
            <a:solidFill>
              <a:srgbClr val="486B8E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3B8C134-B1E1-A58D-4724-787221313311}"/>
              </a:ext>
            </a:extLst>
          </p:cNvPr>
          <p:cNvGrpSpPr/>
          <p:nvPr/>
        </p:nvGrpSpPr>
        <p:grpSpPr>
          <a:xfrm>
            <a:off x="4673435" y="297318"/>
            <a:ext cx="1961535" cy="2807220"/>
            <a:chOff x="6735915" y="297318"/>
            <a:chExt cx="1961535" cy="2807220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FD6DAEFC-0C14-67B8-D587-45981E02CBFB}"/>
                </a:ext>
              </a:extLst>
            </p:cNvPr>
            <p:cNvSpPr/>
            <p:nvPr/>
          </p:nvSpPr>
          <p:spPr>
            <a:xfrm>
              <a:off x="6735915" y="302344"/>
              <a:ext cx="1961535" cy="2802194"/>
            </a:xfrm>
            <a:prstGeom prst="roundRect">
              <a:avLst>
                <a:gd name="adj" fmla="val 5143"/>
              </a:avLst>
            </a:prstGeom>
            <a:solidFill>
              <a:srgbClr val="F3F8FB"/>
            </a:solidFill>
            <a:ln cap="rnd">
              <a:solidFill>
                <a:srgbClr val="486B8E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FFA298B8-2414-42D5-EB91-81FA57CE93DB}"/>
                </a:ext>
              </a:extLst>
            </p:cNvPr>
            <p:cNvSpPr/>
            <p:nvPr/>
          </p:nvSpPr>
          <p:spPr>
            <a:xfrm>
              <a:off x="6735915" y="297318"/>
              <a:ext cx="1961535" cy="327521"/>
            </a:xfrm>
            <a:prstGeom prst="roundRect">
              <a:avLst>
                <a:gd name="adj" fmla="val 33061"/>
              </a:avLst>
            </a:prstGeom>
            <a:solidFill>
              <a:srgbClr val="486B8E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Analytic Approach &amp; Outcomes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4A77DD7-CBEE-9FB9-3EA0-940C0783C70D}"/>
                </a:ext>
              </a:extLst>
            </p:cNvPr>
            <p:cNvSpPr/>
            <p:nvPr/>
          </p:nvSpPr>
          <p:spPr>
            <a:xfrm>
              <a:off x="6735915" y="543559"/>
              <a:ext cx="426720" cy="81279"/>
            </a:xfrm>
            <a:prstGeom prst="rect">
              <a:avLst/>
            </a:prstGeom>
            <a:solidFill>
              <a:srgbClr val="486B8E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35189A3-1DD6-3A68-2139-062B0A9F4429}"/>
                </a:ext>
              </a:extLst>
            </p:cNvPr>
            <p:cNvSpPr/>
            <p:nvPr/>
          </p:nvSpPr>
          <p:spPr>
            <a:xfrm>
              <a:off x="8270730" y="543559"/>
              <a:ext cx="426720" cy="81279"/>
            </a:xfrm>
            <a:prstGeom prst="rect">
              <a:avLst/>
            </a:prstGeom>
            <a:solidFill>
              <a:srgbClr val="486B8E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1602717-2E47-9565-42AD-8CCE208EA505}"/>
              </a:ext>
            </a:extLst>
          </p:cNvPr>
          <p:cNvGrpSpPr/>
          <p:nvPr/>
        </p:nvGrpSpPr>
        <p:grpSpPr>
          <a:xfrm>
            <a:off x="701611" y="675640"/>
            <a:ext cx="1351308" cy="411479"/>
            <a:chOff x="670560" y="853440"/>
            <a:chExt cx="1351308" cy="411479"/>
          </a:xfrm>
        </p:grpSpPr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4280C2A1-014B-19A9-67CA-5D0DFDFC31D0}"/>
                </a:ext>
              </a:extLst>
            </p:cNvPr>
            <p:cNvSpPr/>
            <p:nvPr/>
          </p:nvSpPr>
          <p:spPr>
            <a:xfrm>
              <a:off x="670560" y="853440"/>
              <a:ext cx="1251092" cy="396240"/>
            </a:xfrm>
            <a:prstGeom prst="roundRect">
              <a:avLst>
                <a:gd name="adj" fmla="val 8975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 cap="rnd">
              <a:solidFill>
                <a:srgbClr val="8D9EAB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591D0F8-05A6-2D59-72D4-BD75401EAD30}"/>
                </a:ext>
              </a:extLst>
            </p:cNvPr>
            <p:cNvSpPr txBox="1"/>
            <p:nvPr/>
          </p:nvSpPr>
          <p:spPr>
            <a:xfrm>
              <a:off x="826520" y="882283"/>
              <a:ext cx="11953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Arial" panose="020B0604020202020204" pitchFamily="34" charset="0"/>
                  <a:cs typeface="Arial" panose="020B0604020202020204" pitchFamily="34" charset="0"/>
                </a:rPr>
                <a:t>426 HCM Patients</a:t>
              </a:r>
            </a:p>
            <a:p>
              <a:pPr algn="ctr"/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(Phenotype +)</a:t>
              </a: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F0415590-C6F9-0EFB-A0F4-B2298B8453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7098" y="868679"/>
              <a:ext cx="292336" cy="396240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C16E44D6-9CA6-F914-B157-771C73F670AF}"/>
              </a:ext>
            </a:extLst>
          </p:cNvPr>
          <p:cNvSpPr txBox="1"/>
          <p:nvPr/>
        </p:nvSpPr>
        <p:spPr>
          <a:xfrm>
            <a:off x="1122847" y="1739064"/>
            <a:ext cx="9460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EXCLUSION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DFEBD16-94FA-1C5A-9B42-1FD791041208}"/>
              </a:ext>
            </a:extLst>
          </p:cNvPr>
          <p:cNvSpPr txBox="1"/>
          <p:nvPr/>
        </p:nvSpPr>
        <p:spPr>
          <a:xfrm>
            <a:off x="1256643" y="1106480"/>
            <a:ext cx="8122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INCLUSION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4351A899-029A-8B16-4524-811C1DC784DF}"/>
              </a:ext>
            </a:extLst>
          </p:cNvPr>
          <p:cNvSpPr/>
          <p:nvPr/>
        </p:nvSpPr>
        <p:spPr>
          <a:xfrm>
            <a:off x="701611" y="2600574"/>
            <a:ext cx="1113993" cy="439379"/>
          </a:xfrm>
          <a:prstGeom prst="roundRect">
            <a:avLst>
              <a:gd name="adj" fmla="val 8975"/>
            </a:avLst>
          </a:prstGeom>
          <a:solidFill>
            <a:schemeClr val="tx2">
              <a:lumMod val="10000"/>
              <a:lumOff val="90000"/>
            </a:schemeClr>
          </a:solidFill>
          <a:ln w="12700" cap="rnd">
            <a:solidFill>
              <a:srgbClr val="8D9EAB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7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5" name="Graphic 44" descr="Filter with solid fill">
            <a:extLst>
              <a:ext uri="{FF2B5EF4-FFF2-40B4-BE49-F238E27FC236}">
                <a16:creationId xmlns:a16="http://schemas.microsoft.com/office/drawing/2014/main" id="{74CC0F27-2EEA-4595-2465-BCA89DB728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8767" y="1032638"/>
            <a:ext cx="463640" cy="463640"/>
          </a:xfrm>
          <a:prstGeom prst="rect">
            <a:avLst/>
          </a:prstGeom>
        </p:spPr>
      </p:pic>
      <p:pic>
        <p:nvPicPr>
          <p:cNvPr id="46" name="Graphic 45" descr="Filter with solid fill">
            <a:extLst>
              <a:ext uri="{FF2B5EF4-FFF2-40B4-BE49-F238E27FC236}">
                <a16:creationId xmlns:a16="http://schemas.microsoft.com/office/drawing/2014/main" id="{C11D8F09-5700-6F63-BF2B-2F7505928C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8767" y="1666746"/>
            <a:ext cx="463640" cy="463640"/>
          </a:xfrm>
          <a:prstGeom prst="rect">
            <a:avLst/>
          </a:prstGeom>
        </p:spPr>
      </p:pic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F50018BC-8A69-4228-127C-5BC1221ED57B}"/>
              </a:ext>
            </a:extLst>
          </p:cNvPr>
          <p:cNvSpPr/>
          <p:nvPr/>
        </p:nvSpPr>
        <p:spPr>
          <a:xfrm>
            <a:off x="448347" y="1308469"/>
            <a:ext cx="1620520" cy="396240"/>
          </a:xfrm>
          <a:prstGeom prst="roundRect">
            <a:avLst>
              <a:gd name="adj" fmla="val 8975"/>
            </a:avLst>
          </a:prstGeom>
          <a:solidFill>
            <a:schemeClr val="bg1">
              <a:lumMod val="95000"/>
            </a:schemeClr>
          </a:solidFill>
          <a:ln w="12700" cap="rnd">
            <a:solidFill>
              <a:srgbClr val="8D9EAB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chemeClr val="tx1"/>
                </a:solidFill>
              </a:rPr>
              <a:t>LVEF &gt; 55%</a:t>
            </a:r>
          </a:p>
          <a:p>
            <a:r>
              <a:rPr lang="en-US" sz="800" dirty="0">
                <a:solidFill>
                  <a:schemeClr val="tx1"/>
                </a:solidFill>
              </a:rPr>
              <a:t>Complete Diastolic Assessment</a:t>
            </a:r>
          </a:p>
          <a:p>
            <a:r>
              <a:rPr lang="en-US" sz="800" dirty="0">
                <a:solidFill>
                  <a:schemeClr val="tx1"/>
                </a:solidFill>
              </a:rPr>
              <a:t>Serial CPET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014C6C8-41ED-3D06-BADE-C4FC93E1B4E5}"/>
              </a:ext>
            </a:extLst>
          </p:cNvPr>
          <p:cNvCxnSpPr>
            <a:cxnSpLocks/>
            <a:stCxn id="37" idx="2"/>
            <a:endCxn id="41" idx="0"/>
          </p:cNvCxnSpPr>
          <p:nvPr/>
        </p:nvCxnSpPr>
        <p:spPr>
          <a:xfrm>
            <a:off x="1258607" y="2489199"/>
            <a:ext cx="1" cy="111375"/>
          </a:xfrm>
          <a:prstGeom prst="straightConnector1">
            <a:avLst/>
          </a:prstGeom>
          <a:ln cap="rnd">
            <a:solidFill>
              <a:srgbClr val="486B8E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D050CA7-326C-7C1D-0BF1-2B826B0DCACB}"/>
              </a:ext>
            </a:extLst>
          </p:cNvPr>
          <p:cNvSpPr/>
          <p:nvPr/>
        </p:nvSpPr>
        <p:spPr>
          <a:xfrm>
            <a:off x="448347" y="1934932"/>
            <a:ext cx="1620520" cy="554267"/>
          </a:xfrm>
          <a:prstGeom prst="roundRect">
            <a:avLst>
              <a:gd name="adj" fmla="val 8975"/>
            </a:avLst>
          </a:prstGeom>
          <a:solidFill>
            <a:schemeClr val="bg1">
              <a:lumMod val="95000"/>
            </a:schemeClr>
          </a:solidFill>
          <a:ln w="12700" cap="rnd">
            <a:solidFill>
              <a:srgbClr val="8D9EAB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chemeClr val="tx1"/>
                </a:solidFill>
              </a:rPr>
              <a:t>Confounding Illness (Pulmonary, valvular, coronary)</a:t>
            </a:r>
          </a:p>
          <a:p>
            <a:r>
              <a:rPr lang="en-US" sz="800" dirty="0">
                <a:solidFill>
                  <a:schemeClr val="tx1"/>
                </a:solidFill>
              </a:rPr>
              <a:t>Infiltrative cardiomyopathy</a:t>
            </a:r>
          </a:p>
          <a:p>
            <a:r>
              <a:rPr lang="en-US" sz="800" dirty="0">
                <a:solidFill>
                  <a:schemeClr val="tx1"/>
                </a:solidFill>
              </a:rPr>
              <a:t>Inadequate CPET Effort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15ED2E6-4BA2-E985-1794-72B5C8E58C1E}"/>
              </a:ext>
            </a:extLst>
          </p:cNvPr>
          <p:cNvGrpSpPr/>
          <p:nvPr/>
        </p:nvGrpSpPr>
        <p:grpSpPr>
          <a:xfrm>
            <a:off x="2529929" y="904239"/>
            <a:ext cx="1840921" cy="748866"/>
            <a:chOff x="2529929" y="690879"/>
            <a:chExt cx="1840921" cy="748866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E39BB626-7A25-EA5E-F822-AC8EA9BD6C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219567" y="777868"/>
              <a:ext cx="418866" cy="568687"/>
            </a:xfrm>
            <a:prstGeom prst="rect">
              <a:avLst/>
            </a:prstGeom>
          </p:spPr>
        </p:pic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FD791884-E41A-DA6B-7B11-8EC67A159C7C}"/>
                </a:ext>
              </a:extLst>
            </p:cNvPr>
            <p:cNvSpPr/>
            <p:nvPr/>
          </p:nvSpPr>
          <p:spPr>
            <a:xfrm>
              <a:off x="2529929" y="1112224"/>
              <a:ext cx="556996" cy="327521"/>
            </a:xfrm>
            <a:prstGeom prst="roundRect">
              <a:avLst>
                <a:gd name="adj" fmla="val 8975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 cap="rnd">
              <a:solidFill>
                <a:srgbClr val="8D9EAB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Peak TR</a:t>
              </a:r>
            </a:p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(&gt;2.8 m/s)</a:t>
              </a:r>
            </a:p>
          </p:txBody>
        </p:sp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34A11553-1815-2685-7EFD-1FD97AB22B98}"/>
                </a:ext>
              </a:extLst>
            </p:cNvPr>
            <p:cNvSpPr/>
            <p:nvPr/>
          </p:nvSpPr>
          <p:spPr>
            <a:xfrm>
              <a:off x="3813854" y="1112224"/>
              <a:ext cx="556996" cy="327521"/>
            </a:xfrm>
            <a:prstGeom prst="roundRect">
              <a:avLst>
                <a:gd name="adj" fmla="val 8975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 cap="rnd">
              <a:solidFill>
                <a:srgbClr val="8D9EAB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Avg E/e’</a:t>
              </a:r>
            </a:p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(&gt; 14)</a:t>
              </a:r>
            </a:p>
          </p:txBody>
        </p:sp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27533465-B98A-642B-2DA0-F4BA71A0F560}"/>
                </a:ext>
              </a:extLst>
            </p:cNvPr>
            <p:cNvSpPr/>
            <p:nvPr/>
          </p:nvSpPr>
          <p:spPr>
            <a:xfrm>
              <a:off x="2529929" y="690879"/>
              <a:ext cx="556996" cy="327521"/>
            </a:xfrm>
            <a:prstGeom prst="roundRect">
              <a:avLst>
                <a:gd name="adj" fmla="val 8975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 cap="rnd">
              <a:solidFill>
                <a:srgbClr val="8D9EAB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LAVI</a:t>
              </a:r>
            </a:p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(&gt;34 mL/m</a:t>
              </a:r>
              <a:r>
                <a:rPr lang="en-US" sz="700" baseline="30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874AF89E-5DAB-BE74-FB1A-09504E8B16E5}"/>
                </a:ext>
              </a:extLst>
            </p:cNvPr>
            <p:cNvSpPr/>
            <p:nvPr/>
          </p:nvSpPr>
          <p:spPr>
            <a:xfrm>
              <a:off x="3813854" y="690879"/>
              <a:ext cx="556996" cy="327521"/>
            </a:xfrm>
            <a:prstGeom prst="roundRect">
              <a:avLst>
                <a:gd name="adj" fmla="val 8975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 cap="rnd">
              <a:solidFill>
                <a:srgbClr val="8D9EAB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Ar-A</a:t>
              </a:r>
            </a:p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(≥30 ms)</a:t>
              </a:r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56EE3D2B-172E-72A2-FC0B-4FB754DEB0AC}"/>
                </a:ext>
              </a:extLst>
            </p:cNvPr>
            <p:cNvCxnSpPr>
              <a:stCxn id="51" idx="3"/>
            </p:cNvCxnSpPr>
            <p:nvPr/>
          </p:nvCxnSpPr>
          <p:spPr>
            <a:xfrm flipV="1">
              <a:off x="3086925" y="1221896"/>
              <a:ext cx="342075" cy="54089"/>
            </a:xfrm>
            <a:prstGeom prst="line">
              <a:avLst/>
            </a:prstGeom>
            <a:ln w="12700" cap="rnd">
              <a:solidFill>
                <a:srgbClr val="8D9EAB"/>
              </a:solidFill>
              <a:prstDash val="sysDot"/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1E59E6D9-3BA0-9DE8-7765-F7218C987240}"/>
                </a:ext>
              </a:extLst>
            </p:cNvPr>
            <p:cNvCxnSpPr>
              <a:cxnSpLocks/>
              <a:stCxn id="60" idx="3"/>
            </p:cNvCxnSpPr>
            <p:nvPr/>
          </p:nvCxnSpPr>
          <p:spPr>
            <a:xfrm>
              <a:off x="3086925" y="854640"/>
              <a:ext cx="391981" cy="188397"/>
            </a:xfrm>
            <a:prstGeom prst="line">
              <a:avLst/>
            </a:prstGeom>
            <a:ln w="12700" cap="rnd">
              <a:solidFill>
                <a:srgbClr val="8D9EAB"/>
              </a:solidFill>
              <a:prstDash val="sysDot"/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6D06DCB-C22E-A2AB-6549-E9667EF07679}"/>
                </a:ext>
              </a:extLst>
            </p:cNvPr>
            <p:cNvCxnSpPr>
              <a:cxnSpLocks/>
              <a:stCxn id="61" idx="1"/>
            </p:cNvCxnSpPr>
            <p:nvPr/>
          </p:nvCxnSpPr>
          <p:spPr>
            <a:xfrm flipH="1">
              <a:off x="3505169" y="854640"/>
              <a:ext cx="308685" cy="188397"/>
            </a:xfrm>
            <a:prstGeom prst="line">
              <a:avLst/>
            </a:prstGeom>
            <a:ln w="12700" cap="rnd">
              <a:solidFill>
                <a:srgbClr val="8D9EAB"/>
              </a:solidFill>
              <a:prstDash val="sysDot"/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A45F3F7B-261C-F2FC-E4EC-53DB2EE2DE88}"/>
                </a:ext>
              </a:extLst>
            </p:cNvPr>
            <p:cNvCxnSpPr>
              <a:cxnSpLocks/>
              <a:stCxn id="58" idx="1"/>
            </p:cNvCxnSpPr>
            <p:nvPr/>
          </p:nvCxnSpPr>
          <p:spPr>
            <a:xfrm flipH="1" flipV="1">
              <a:off x="3505169" y="1154522"/>
              <a:ext cx="308685" cy="121463"/>
            </a:xfrm>
            <a:prstGeom prst="line">
              <a:avLst/>
            </a:prstGeom>
            <a:ln w="12700" cap="rnd">
              <a:solidFill>
                <a:srgbClr val="8D9EAB"/>
              </a:solidFill>
              <a:prstDash val="sysDot"/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37A0CD8C-C009-83CC-6E71-00DC24A34C6A}"/>
              </a:ext>
            </a:extLst>
          </p:cNvPr>
          <p:cNvSpPr/>
          <p:nvPr/>
        </p:nvSpPr>
        <p:spPr>
          <a:xfrm>
            <a:off x="2476826" y="662510"/>
            <a:ext cx="1961535" cy="156428"/>
          </a:xfrm>
          <a:prstGeom prst="roundRect">
            <a:avLst>
              <a:gd name="adj" fmla="val 5143"/>
            </a:avLst>
          </a:prstGeom>
          <a:solidFill>
            <a:srgbClr val="8D9EAB">
              <a:alpha val="49959"/>
            </a:srgb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</a:rPr>
              <a:t>Echo: LVDD Assessment </a:t>
            </a:r>
            <a:r>
              <a:rPr lang="en-US" sz="700" dirty="0">
                <a:solidFill>
                  <a:schemeClr val="tx1"/>
                </a:solidFill>
              </a:rPr>
              <a:t>(ASE 2025)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6C9C7BC-7566-D2F3-05F2-0369B75BD79D}"/>
              </a:ext>
            </a:extLst>
          </p:cNvPr>
          <p:cNvSpPr/>
          <p:nvPr/>
        </p:nvSpPr>
        <p:spPr>
          <a:xfrm>
            <a:off x="2476826" y="1874799"/>
            <a:ext cx="1961535" cy="156428"/>
          </a:xfrm>
          <a:prstGeom prst="roundRect">
            <a:avLst>
              <a:gd name="adj" fmla="val 5143"/>
            </a:avLst>
          </a:prstGeom>
          <a:solidFill>
            <a:srgbClr val="8D9EAB">
              <a:alpha val="49959"/>
            </a:srgb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</a:rPr>
              <a:t>Cardiopulmonary Fitness (CPET)</a:t>
            </a: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510FE97-2FF0-F4C0-D027-79BA453C3CCF}"/>
              </a:ext>
            </a:extLst>
          </p:cNvPr>
          <p:cNvSpPr txBox="1"/>
          <p:nvPr/>
        </p:nvSpPr>
        <p:spPr>
          <a:xfrm>
            <a:off x="2908693" y="1528837"/>
            <a:ext cx="109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Left Ventricular Diastolic Dysfunction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CEAEB14-0183-14FD-A3BB-16F31FCEBB91}"/>
              </a:ext>
            </a:extLst>
          </p:cNvPr>
          <p:cNvSpPr txBox="1"/>
          <p:nvPr/>
        </p:nvSpPr>
        <p:spPr>
          <a:xfrm>
            <a:off x="2909928" y="2907554"/>
            <a:ext cx="1097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Exercise Intolerance</a:t>
            </a: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6D7250CA-F496-407B-582A-81785F2D965E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29929" y="2083980"/>
            <a:ext cx="1263860" cy="870584"/>
          </a:xfrm>
          <a:prstGeom prst="rect">
            <a:avLst/>
          </a:prstGeom>
        </p:spPr>
      </p:pic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92FA41CD-C092-4667-58CB-62B4629B39B7}"/>
              </a:ext>
            </a:extLst>
          </p:cNvPr>
          <p:cNvSpPr/>
          <p:nvPr/>
        </p:nvSpPr>
        <p:spPr>
          <a:xfrm>
            <a:off x="3826064" y="2579438"/>
            <a:ext cx="565106" cy="327521"/>
          </a:xfrm>
          <a:prstGeom prst="roundRect">
            <a:avLst>
              <a:gd name="adj" fmla="val 8975"/>
            </a:avLst>
          </a:prstGeom>
          <a:solidFill>
            <a:schemeClr val="tx2">
              <a:lumMod val="10000"/>
              <a:lumOff val="90000"/>
            </a:schemeClr>
          </a:solidFill>
          <a:ln w="12700" cap="rnd">
            <a:solidFill>
              <a:srgbClr val="8D9EAB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VE/VCO</a:t>
            </a:r>
            <a:r>
              <a:rPr lang="en-US" sz="7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US" sz="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Lean B.M. adj.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F471BBB4-F298-B576-DB75-0C222C63F6D9}"/>
              </a:ext>
            </a:extLst>
          </p:cNvPr>
          <p:cNvSpPr/>
          <p:nvPr/>
        </p:nvSpPr>
        <p:spPr>
          <a:xfrm>
            <a:off x="3826064" y="2158093"/>
            <a:ext cx="565106" cy="327521"/>
          </a:xfrm>
          <a:prstGeom prst="roundRect">
            <a:avLst>
              <a:gd name="adj" fmla="val 8975"/>
            </a:avLst>
          </a:prstGeom>
          <a:solidFill>
            <a:schemeClr val="tx2">
              <a:lumMod val="10000"/>
              <a:lumOff val="90000"/>
            </a:schemeClr>
          </a:solidFill>
          <a:ln w="12700" cap="rnd">
            <a:solidFill>
              <a:srgbClr val="8D9EAB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pVO</a:t>
            </a:r>
            <a:r>
              <a:rPr lang="en-US" sz="7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US" sz="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Lean B.M. adj.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D65F66F8-61D9-625C-055E-4D0CE1728A62}"/>
              </a:ext>
            </a:extLst>
          </p:cNvPr>
          <p:cNvSpPr/>
          <p:nvPr/>
        </p:nvSpPr>
        <p:spPr>
          <a:xfrm>
            <a:off x="4673435" y="662510"/>
            <a:ext cx="1961535" cy="156428"/>
          </a:xfrm>
          <a:prstGeom prst="roundRect">
            <a:avLst>
              <a:gd name="adj" fmla="val 5143"/>
            </a:avLst>
          </a:prstGeom>
          <a:solidFill>
            <a:srgbClr val="8D9EAB">
              <a:alpha val="49959"/>
            </a:srgb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0" rtlCol="0" anchor="ctr"/>
          <a:lstStyle/>
          <a:p>
            <a:r>
              <a:rPr lang="en-US" sz="700" b="1" dirty="0">
                <a:solidFill>
                  <a:schemeClr val="tx1"/>
                </a:solidFill>
              </a:rPr>
              <a:t>1. Cross-sectional Association</a:t>
            </a: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7B0676C2-6F07-7B83-F8E1-341501309F08}"/>
              </a:ext>
            </a:extLst>
          </p:cNvPr>
          <p:cNvSpPr/>
          <p:nvPr/>
        </p:nvSpPr>
        <p:spPr>
          <a:xfrm>
            <a:off x="4673435" y="1732559"/>
            <a:ext cx="1961535" cy="156428"/>
          </a:xfrm>
          <a:prstGeom prst="roundRect">
            <a:avLst>
              <a:gd name="adj" fmla="val 5143"/>
            </a:avLst>
          </a:prstGeom>
          <a:solidFill>
            <a:srgbClr val="8D9EAB">
              <a:alpha val="49959"/>
            </a:srgb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0" rtlCol="0" anchor="ctr"/>
          <a:lstStyle/>
          <a:p>
            <a:r>
              <a:rPr lang="en-US" sz="700" b="1" dirty="0">
                <a:solidFill>
                  <a:schemeClr val="tx1"/>
                </a:solidFill>
              </a:rPr>
              <a:t>2. Longitudinal Fitness Trajectory Prediction</a:t>
            </a: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6F240EAA-C3F9-C321-1230-D38F6D00344C}"/>
              </a:ext>
            </a:extLst>
          </p:cNvPr>
          <p:cNvSpPr/>
          <p:nvPr/>
        </p:nvSpPr>
        <p:spPr>
          <a:xfrm>
            <a:off x="4673435" y="2802164"/>
            <a:ext cx="1961535" cy="302374"/>
          </a:xfrm>
          <a:prstGeom prst="roundRect">
            <a:avLst>
              <a:gd name="adj" fmla="val 21943"/>
            </a:avLst>
          </a:prstGeom>
          <a:solidFill>
            <a:srgbClr val="486B8E"/>
          </a:solidFill>
          <a:ln cap="rnd">
            <a:solidFill>
              <a:srgbClr val="486B8E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/>
          <a:lstStyle/>
          <a:p>
            <a:pPr algn="ctr"/>
            <a:r>
              <a:rPr lang="en-US" sz="900" b="1" dirty="0">
                <a:solidFill>
                  <a:schemeClr val="bg1"/>
                </a:solidFill>
              </a:rPr>
              <a:t>Conclusion: </a:t>
            </a:r>
            <a:r>
              <a:rPr lang="en-US" sz="800" dirty="0">
                <a:solidFill>
                  <a:schemeClr val="bg1"/>
                </a:solidFill>
              </a:rPr>
              <a:t>A modest nonlinear relationship links E/e’ and pVO</a:t>
            </a:r>
            <a:r>
              <a:rPr lang="en-US" sz="800" baseline="-25000" dirty="0">
                <a:solidFill>
                  <a:schemeClr val="bg1"/>
                </a:solidFill>
              </a:rPr>
              <a:t>2</a:t>
            </a:r>
            <a:r>
              <a:rPr lang="en-US" sz="800" dirty="0">
                <a:solidFill>
                  <a:schemeClr val="bg1"/>
                </a:solidFill>
              </a:rPr>
              <a:t>.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B412B581-FC77-93C8-ECCD-42D85F6D8CE2}"/>
              </a:ext>
            </a:extLst>
          </p:cNvPr>
          <p:cNvGrpSpPr/>
          <p:nvPr/>
        </p:nvGrpSpPr>
        <p:grpSpPr>
          <a:xfrm>
            <a:off x="4886795" y="1984795"/>
            <a:ext cx="1158405" cy="644473"/>
            <a:chOff x="-1899920" y="1559915"/>
            <a:chExt cx="904240" cy="959357"/>
          </a:xfrm>
        </p:grpSpPr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F06DEA8F-08B3-65D8-4CDE-E698229F8F49}"/>
                </a:ext>
              </a:extLst>
            </p:cNvPr>
            <p:cNvCxnSpPr>
              <a:cxnSpLocks/>
            </p:cNvCxnSpPr>
            <p:nvPr/>
          </p:nvCxnSpPr>
          <p:spPr>
            <a:xfrm>
              <a:off x="-1899920" y="1559915"/>
              <a:ext cx="0" cy="959357"/>
            </a:xfrm>
            <a:prstGeom prst="line">
              <a:avLst/>
            </a:prstGeom>
            <a:ln w="12700" cap="rnd">
              <a:solidFill>
                <a:schemeClr val="tx1">
                  <a:lumMod val="50000"/>
                  <a:lumOff val="50000"/>
                </a:schemeClr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ED739F4-EEF7-F7B8-F2A1-A46E04410F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899920" y="2519272"/>
              <a:ext cx="904240" cy="0"/>
            </a:xfrm>
            <a:prstGeom prst="line">
              <a:avLst/>
            </a:prstGeom>
            <a:ln w="12700" cap="rnd">
              <a:solidFill>
                <a:schemeClr val="tx1">
                  <a:lumMod val="50000"/>
                  <a:lumOff val="50000"/>
                </a:schemeClr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Oval 93">
            <a:extLst>
              <a:ext uri="{FF2B5EF4-FFF2-40B4-BE49-F238E27FC236}">
                <a16:creationId xmlns:a16="http://schemas.microsoft.com/office/drawing/2014/main" id="{C2E49170-193F-D8CB-1BB6-DE9746303CA5}"/>
              </a:ext>
            </a:extLst>
          </p:cNvPr>
          <p:cNvSpPr/>
          <p:nvPr/>
        </p:nvSpPr>
        <p:spPr>
          <a:xfrm>
            <a:off x="5054435" y="2326491"/>
            <a:ext cx="45720" cy="45719"/>
          </a:xfrm>
          <a:prstGeom prst="ellipse">
            <a:avLst/>
          </a:prstGeom>
          <a:solidFill>
            <a:srgbClr val="486B8E"/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6E617C18-BFE7-DADC-38A7-447FDEDB9FF9}"/>
              </a:ext>
            </a:extLst>
          </p:cNvPr>
          <p:cNvSpPr/>
          <p:nvPr/>
        </p:nvSpPr>
        <p:spPr>
          <a:xfrm>
            <a:off x="5496395" y="2410654"/>
            <a:ext cx="45720" cy="45719"/>
          </a:xfrm>
          <a:prstGeom prst="ellipse">
            <a:avLst/>
          </a:prstGeom>
          <a:solidFill>
            <a:srgbClr val="486B8E"/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E616E4E6-DA5A-6CAA-CD63-33F822E984FD}"/>
              </a:ext>
            </a:extLst>
          </p:cNvPr>
          <p:cNvCxnSpPr>
            <a:cxnSpLocks/>
            <a:stCxn id="94" idx="6"/>
            <a:endCxn id="95" idx="2"/>
          </p:cNvCxnSpPr>
          <p:nvPr/>
        </p:nvCxnSpPr>
        <p:spPr>
          <a:xfrm>
            <a:off x="5100155" y="2349351"/>
            <a:ext cx="396240" cy="84163"/>
          </a:xfrm>
          <a:prstGeom prst="straightConnector1">
            <a:avLst/>
          </a:prstGeom>
          <a:ln w="12700" cap="rnd">
            <a:solidFill>
              <a:srgbClr val="486B8E"/>
            </a:solidFill>
            <a:prstDash val="solid"/>
            <a:round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374B2BD4-6BD1-F4EB-29D3-79346E768123}"/>
              </a:ext>
            </a:extLst>
          </p:cNvPr>
          <p:cNvCxnSpPr>
            <a:cxnSpLocks/>
          </p:cNvCxnSpPr>
          <p:nvPr/>
        </p:nvCxnSpPr>
        <p:spPr>
          <a:xfrm>
            <a:off x="5535419" y="2440153"/>
            <a:ext cx="402936" cy="93307"/>
          </a:xfrm>
          <a:prstGeom prst="straightConnector1">
            <a:avLst/>
          </a:prstGeom>
          <a:ln w="12700" cap="rnd">
            <a:solidFill>
              <a:srgbClr val="486B8E"/>
            </a:solidFill>
            <a:prstDash val="sysDash"/>
            <a:round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FC24D4B8-51B4-A7AB-3D10-E5C7DAE59528}"/>
              </a:ext>
            </a:extLst>
          </p:cNvPr>
          <p:cNvSpPr txBox="1"/>
          <p:nvPr/>
        </p:nvSpPr>
        <p:spPr>
          <a:xfrm>
            <a:off x="4848868" y="2153321"/>
            <a:ext cx="5025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B9DD2EA-0C5F-1F40-911C-0E262428A78B}"/>
              </a:ext>
            </a:extLst>
          </p:cNvPr>
          <p:cNvSpPr txBox="1"/>
          <p:nvPr/>
        </p:nvSpPr>
        <p:spPr>
          <a:xfrm>
            <a:off x="5237869" y="2237269"/>
            <a:ext cx="5627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Follow-up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6710112-F9E4-18A4-53D7-6D65B2796461}"/>
              </a:ext>
            </a:extLst>
          </p:cNvPr>
          <p:cNvSpPr txBox="1"/>
          <p:nvPr/>
        </p:nvSpPr>
        <p:spPr>
          <a:xfrm>
            <a:off x="4970837" y="2599715"/>
            <a:ext cx="110008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0" b="1" dirty="0">
                <a:latin typeface="Arial" panose="020B0604020202020204" pitchFamily="34" charset="0"/>
                <a:cs typeface="Arial" panose="020B0604020202020204" pitchFamily="34" charset="0"/>
              </a:rPr>
              <a:t>Individual LVDD Indices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7D59695-8152-750C-7440-6B7C5C78BCD7}"/>
              </a:ext>
            </a:extLst>
          </p:cNvPr>
          <p:cNvSpPr txBox="1"/>
          <p:nvPr/>
        </p:nvSpPr>
        <p:spPr>
          <a:xfrm rot="16200000">
            <a:off x="4508818" y="2178447"/>
            <a:ext cx="60177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600" b="1" dirty="0">
                <a:latin typeface="Arial" panose="020B0604020202020204" pitchFamily="34" charset="0"/>
                <a:cs typeface="Arial" panose="020B0604020202020204" pitchFamily="34" charset="0"/>
              </a:rPr>
              <a:t>Δ </a:t>
            </a:r>
            <a:r>
              <a:rPr lang="en-US" sz="600" b="1" dirty="0">
                <a:latin typeface="Arial" panose="020B0604020202020204" pitchFamily="34" charset="0"/>
                <a:cs typeface="Arial" panose="020B0604020202020204" pitchFamily="34" charset="0"/>
              </a:rPr>
              <a:t>Peak VO</a:t>
            </a:r>
            <a:r>
              <a:rPr lang="en-US" sz="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6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0A03A9C4-0B0A-5970-0348-80E6382B0C23}"/>
              </a:ext>
            </a:extLst>
          </p:cNvPr>
          <p:cNvGrpSpPr/>
          <p:nvPr/>
        </p:nvGrpSpPr>
        <p:grpSpPr>
          <a:xfrm>
            <a:off x="4886795" y="892941"/>
            <a:ext cx="1158405" cy="644473"/>
            <a:chOff x="-1899920" y="1559915"/>
            <a:chExt cx="904240" cy="959357"/>
          </a:xfrm>
        </p:grpSpPr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6A12E135-C3AA-F88F-0541-393A764AB464}"/>
                </a:ext>
              </a:extLst>
            </p:cNvPr>
            <p:cNvCxnSpPr>
              <a:cxnSpLocks/>
            </p:cNvCxnSpPr>
            <p:nvPr/>
          </p:nvCxnSpPr>
          <p:spPr>
            <a:xfrm>
              <a:off x="-1899920" y="1559915"/>
              <a:ext cx="0" cy="959357"/>
            </a:xfrm>
            <a:prstGeom prst="line">
              <a:avLst/>
            </a:prstGeom>
            <a:ln w="12700" cap="rnd">
              <a:solidFill>
                <a:schemeClr val="tx1">
                  <a:lumMod val="50000"/>
                  <a:lumOff val="50000"/>
                </a:schemeClr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DA5B046-1A36-3D4C-741B-52707BB05D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899920" y="2519272"/>
              <a:ext cx="904240" cy="0"/>
            </a:xfrm>
            <a:prstGeom prst="line">
              <a:avLst/>
            </a:prstGeom>
            <a:ln w="12700" cap="rnd">
              <a:solidFill>
                <a:schemeClr val="tx1">
                  <a:lumMod val="50000"/>
                  <a:lumOff val="50000"/>
                </a:schemeClr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Oval 112">
            <a:extLst>
              <a:ext uri="{FF2B5EF4-FFF2-40B4-BE49-F238E27FC236}">
                <a16:creationId xmlns:a16="http://schemas.microsoft.com/office/drawing/2014/main" id="{F005953C-4999-BEE2-B829-ED3CDBFBBFD2}"/>
              </a:ext>
            </a:extLst>
          </p:cNvPr>
          <p:cNvSpPr/>
          <p:nvPr/>
        </p:nvSpPr>
        <p:spPr>
          <a:xfrm>
            <a:off x="5054435" y="1234637"/>
            <a:ext cx="18288" cy="18288"/>
          </a:xfrm>
          <a:prstGeom prst="ellipse">
            <a:avLst/>
          </a:prstGeom>
          <a:solidFill>
            <a:srgbClr val="486B8E"/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53CE1C6F-70D2-1FA9-E768-6E9EEC51F05F}"/>
              </a:ext>
            </a:extLst>
          </p:cNvPr>
          <p:cNvSpPr/>
          <p:nvPr/>
        </p:nvSpPr>
        <p:spPr>
          <a:xfrm>
            <a:off x="5342297" y="1293819"/>
            <a:ext cx="18288" cy="18288"/>
          </a:xfrm>
          <a:prstGeom prst="ellipse">
            <a:avLst/>
          </a:prstGeom>
          <a:solidFill>
            <a:srgbClr val="486B8E"/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6A8EF8A-3288-29BE-38C6-B4DA85329CE2}"/>
              </a:ext>
            </a:extLst>
          </p:cNvPr>
          <p:cNvSpPr txBox="1"/>
          <p:nvPr/>
        </p:nvSpPr>
        <p:spPr>
          <a:xfrm>
            <a:off x="4924723" y="1507861"/>
            <a:ext cx="106015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0" b="1" dirty="0">
                <a:latin typeface="Arial" panose="020B0604020202020204" pitchFamily="34" charset="0"/>
                <a:cs typeface="Arial" panose="020B0604020202020204" pitchFamily="34" charset="0"/>
              </a:rPr>
              <a:t>Individual LVDD Indices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4AB0632-6C64-4359-DEF1-6818F170EB78}"/>
              </a:ext>
            </a:extLst>
          </p:cNvPr>
          <p:cNvSpPr txBox="1"/>
          <p:nvPr/>
        </p:nvSpPr>
        <p:spPr>
          <a:xfrm rot="16200000">
            <a:off x="4543342" y="1121118"/>
            <a:ext cx="53272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0" b="1" dirty="0">
                <a:latin typeface="Arial" panose="020B0604020202020204" pitchFamily="34" charset="0"/>
                <a:cs typeface="Arial" panose="020B0604020202020204" pitchFamily="34" charset="0"/>
              </a:rPr>
              <a:t>Peak VO</a:t>
            </a:r>
            <a:r>
              <a:rPr lang="en-US" sz="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6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11D73774-0E5C-A889-8EE3-C1AC6142D271}"/>
              </a:ext>
            </a:extLst>
          </p:cNvPr>
          <p:cNvSpPr/>
          <p:nvPr/>
        </p:nvSpPr>
        <p:spPr>
          <a:xfrm>
            <a:off x="5206835" y="1231462"/>
            <a:ext cx="18288" cy="18288"/>
          </a:xfrm>
          <a:prstGeom prst="ellipse">
            <a:avLst/>
          </a:prstGeom>
          <a:solidFill>
            <a:srgbClr val="486B8E"/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799E3B33-05B9-C178-8020-30982512A4D1}"/>
              </a:ext>
            </a:extLst>
          </p:cNvPr>
          <p:cNvSpPr/>
          <p:nvPr/>
        </p:nvSpPr>
        <p:spPr>
          <a:xfrm>
            <a:off x="5575770" y="1233075"/>
            <a:ext cx="18288" cy="18288"/>
          </a:xfrm>
          <a:prstGeom prst="ellipse">
            <a:avLst/>
          </a:prstGeom>
          <a:solidFill>
            <a:srgbClr val="486B8E"/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2F64ABC4-6775-E6EB-CAB4-4E65AC172904}"/>
              </a:ext>
            </a:extLst>
          </p:cNvPr>
          <p:cNvSpPr/>
          <p:nvPr/>
        </p:nvSpPr>
        <p:spPr>
          <a:xfrm>
            <a:off x="5092535" y="1133037"/>
            <a:ext cx="18288" cy="18288"/>
          </a:xfrm>
          <a:prstGeom prst="ellipse">
            <a:avLst/>
          </a:prstGeom>
          <a:solidFill>
            <a:srgbClr val="486B8E"/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ED159FA0-2359-4516-8AAF-677F3EB10816}"/>
              </a:ext>
            </a:extLst>
          </p:cNvPr>
          <p:cNvSpPr/>
          <p:nvPr/>
        </p:nvSpPr>
        <p:spPr>
          <a:xfrm>
            <a:off x="5438886" y="1212736"/>
            <a:ext cx="18288" cy="18288"/>
          </a:xfrm>
          <a:prstGeom prst="ellipse">
            <a:avLst/>
          </a:prstGeom>
          <a:solidFill>
            <a:srgbClr val="486B8E"/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7D30AE42-B8A6-37F1-8A1E-FFF2197767A1}"/>
              </a:ext>
            </a:extLst>
          </p:cNvPr>
          <p:cNvSpPr/>
          <p:nvPr/>
        </p:nvSpPr>
        <p:spPr>
          <a:xfrm>
            <a:off x="5257635" y="1148912"/>
            <a:ext cx="18288" cy="18288"/>
          </a:xfrm>
          <a:prstGeom prst="ellipse">
            <a:avLst/>
          </a:prstGeom>
          <a:solidFill>
            <a:srgbClr val="486B8E"/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C803EB06-137A-FD55-61BE-5B75DE2D53EA}"/>
              </a:ext>
            </a:extLst>
          </p:cNvPr>
          <p:cNvSpPr/>
          <p:nvPr/>
        </p:nvSpPr>
        <p:spPr>
          <a:xfrm>
            <a:off x="5696374" y="1207308"/>
            <a:ext cx="18288" cy="18288"/>
          </a:xfrm>
          <a:prstGeom prst="ellipse">
            <a:avLst/>
          </a:prstGeom>
          <a:solidFill>
            <a:srgbClr val="486B8E"/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D549ED53-C41D-177B-2B08-68D00F0AE9B9}"/>
              </a:ext>
            </a:extLst>
          </p:cNvPr>
          <p:cNvSpPr/>
          <p:nvPr/>
        </p:nvSpPr>
        <p:spPr>
          <a:xfrm>
            <a:off x="5126207" y="1302963"/>
            <a:ext cx="18288" cy="18288"/>
          </a:xfrm>
          <a:prstGeom prst="ellipse">
            <a:avLst/>
          </a:prstGeom>
          <a:solidFill>
            <a:srgbClr val="486B8E"/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1DAB8FE8-F1BA-9A05-4C28-3B387E8A7B2C}"/>
              </a:ext>
            </a:extLst>
          </p:cNvPr>
          <p:cNvSpPr/>
          <p:nvPr/>
        </p:nvSpPr>
        <p:spPr>
          <a:xfrm>
            <a:off x="5753570" y="902875"/>
            <a:ext cx="18288" cy="18288"/>
          </a:xfrm>
          <a:prstGeom prst="ellipse">
            <a:avLst/>
          </a:prstGeom>
          <a:solidFill>
            <a:srgbClr val="486B8E"/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0B935FAB-41BC-7F8A-F3E2-FD9F5820B344}"/>
              </a:ext>
            </a:extLst>
          </p:cNvPr>
          <p:cNvGrpSpPr/>
          <p:nvPr/>
        </p:nvGrpSpPr>
        <p:grpSpPr>
          <a:xfrm rot="10800000">
            <a:off x="5274234" y="992016"/>
            <a:ext cx="736473" cy="251676"/>
            <a:chOff x="5206835" y="1285437"/>
            <a:chExt cx="736473" cy="251676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9C76CDBB-8807-3B26-2106-DE4AB03C8D7A}"/>
                </a:ext>
              </a:extLst>
            </p:cNvPr>
            <p:cNvSpPr/>
            <p:nvPr/>
          </p:nvSpPr>
          <p:spPr>
            <a:xfrm>
              <a:off x="5206835" y="1387037"/>
              <a:ext cx="18288" cy="18288"/>
            </a:xfrm>
            <a:prstGeom prst="ellipse">
              <a:avLst/>
            </a:prstGeom>
            <a:solidFill>
              <a:srgbClr val="486B8E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8470A719-F0B6-931B-06A8-A9A8C842056A}"/>
                </a:ext>
              </a:extLst>
            </p:cNvPr>
            <p:cNvSpPr/>
            <p:nvPr/>
          </p:nvSpPr>
          <p:spPr>
            <a:xfrm>
              <a:off x="5494697" y="1446219"/>
              <a:ext cx="18288" cy="18288"/>
            </a:xfrm>
            <a:prstGeom prst="ellipse">
              <a:avLst/>
            </a:prstGeom>
            <a:solidFill>
              <a:srgbClr val="486B8E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4F5666F9-D25B-D871-9EFD-CF75DE84A39B}"/>
                </a:ext>
              </a:extLst>
            </p:cNvPr>
            <p:cNvSpPr/>
            <p:nvPr/>
          </p:nvSpPr>
          <p:spPr>
            <a:xfrm>
              <a:off x="5359235" y="1383862"/>
              <a:ext cx="18288" cy="18288"/>
            </a:xfrm>
            <a:prstGeom prst="ellipse">
              <a:avLst/>
            </a:prstGeom>
            <a:solidFill>
              <a:srgbClr val="486B8E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EBBFA68D-64BC-96C4-F914-3AFF6E288C88}"/>
                </a:ext>
              </a:extLst>
            </p:cNvPr>
            <p:cNvSpPr/>
            <p:nvPr/>
          </p:nvSpPr>
          <p:spPr>
            <a:xfrm>
              <a:off x="5801195" y="1468025"/>
              <a:ext cx="18288" cy="18288"/>
            </a:xfrm>
            <a:prstGeom prst="ellipse">
              <a:avLst/>
            </a:prstGeom>
            <a:solidFill>
              <a:srgbClr val="486B8E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04870180-A602-97AD-2ECE-1F6EC132A4F2}"/>
                </a:ext>
              </a:extLst>
            </p:cNvPr>
            <p:cNvSpPr/>
            <p:nvPr/>
          </p:nvSpPr>
          <p:spPr>
            <a:xfrm>
              <a:off x="5244935" y="1285437"/>
              <a:ext cx="18288" cy="18288"/>
            </a:xfrm>
            <a:prstGeom prst="ellipse">
              <a:avLst/>
            </a:prstGeom>
            <a:solidFill>
              <a:srgbClr val="486B8E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043161E3-5B27-14AF-7820-3901B446890D}"/>
                </a:ext>
              </a:extLst>
            </p:cNvPr>
            <p:cNvSpPr/>
            <p:nvPr/>
          </p:nvSpPr>
          <p:spPr>
            <a:xfrm>
              <a:off x="5527786" y="1384186"/>
              <a:ext cx="18288" cy="18288"/>
            </a:xfrm>
            <a:prstGeom prst="ellipse">
              <a:avLst/>
            </a:prstGeom>
            <a:solidFill>
              <a:srgbClr val="486B8E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C4B18252-FB77-1109-752A-3E0472BAB475}"/>
                </a:ext>
              </a:extLst>
            </p:cNvPr>
            <p:cNvSpPr/>
            <p:nvPr/>
          </p:nvSpPr>
          <p:spPr>
            <a:xfrm>
              <a:off x="5410035" y="1301312"/>
              <a:ext cx="18288" cy="18288"/>
            </a:xfrm>
            <a:prstGeom prst="ellipse">
              <a:avLst/>
            </a:prstGeom>
            <a:solidFill>
              <a:srgbClr val="486B8E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7A8E44AA-B3B7-D75C-A2E3-3F0801DF10BF}"/>
                </a:ext>
              </a:extLst>
            </p:cNvPr>
            <p:cNvSpPr/>
            <p:nvPr/>
          </p:nvSpPr>
          <p:spPr>
            <a:xfrm>
              <a:off x="5870999" y="1416858"/>
              <a:ext cx="18288" cy="18288"/>
            </a:xfrm>
            <a:prstGeom prst="ellipse">
              <a:avLst/>
            </a:prstGeom>
            <a:solidFill>
              <a:srgbClr val="486B8E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D503BBFB-0B47-F97E-8B55-213298F0C121}"/>
                </a:ext>
              </a:extLst>
            </p:cNvPr>
            <p:cNvSpPr/>
            <p:nvPr/>
          </p:nvSpPr>
          <p:spPr>
            <a:xfrm>
              <a:off x="5278607" y="1455363"/>
              <a:ext cx="18288" cy="18288"/>
            </a:xfrm>
            <a:prstGeom prst="ellipse">
              <a:avLst/>
            </a:prstGeom>
            <a:solidFill>
              <a:srgbClr val="486B8E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55C8EE25-54D2-6747-BA1A-A90AD48D2FC0}"/>
                </a:ext>
              </a:extLst>
            </p:cNvPr>
            <p:cNvSpPr/>
            <p:nvPr/>
          </p:nvSpPr>
          <p:spPr>
            <a:xfrm>
              <a:off x="5925020" y="1518825"/>
              <a:ext cx="18288" cy="18288"/>
            </a:xfrm>
            <a:prstGeom prst="ellipse">
              <a:avLst/>
            </a:prstGeom>
            <a:solidFill>
              <a:srgbClr val="486B8E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1BB3E9E8-BF65-483C-380B-442ABFE8ECF4}"/>
              </a:ext>
            </a:extLst>
          </p:cNvPr>
          <p:cNvGrpSpPr/>
          <p:nvPr/>
        </p:nvGrpSpPr>
        <p:grpSpPr>
          <a:xfrm>
            <a:off x="5504864" y="967437"/>
            <a:ext cx="306150" cy="188214"/>
            <a:chOff x="6903103" y="1440851"/>
            <a:chExt cx="306150" cy="188214"/>
          </a:xfrm>
        </p:grpSpPr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0CA1F563-4DBC-E4DF-338F-24523336749F}"/>
                </a:ext>
              </a:extLst>
            </p:cNvPr>
            <p:cNvSpPr/>
            <p:nvPr/>
          </p:nvSpPr>
          <p:spPr>
            <a:xfrm>
              <a:off x="6903103" y="1542451"/>
              <a:ext cx="18288" cy="18288"/>
            </a:xfrm>
            <a:prstGeom prst="ellipse">
              <a:avLst/>
            </a:prstGeom>
            <a:solidFill>
              <a:srgbClr val="486B8E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16B3233D-81AA-EF4B-6CCE-82869BD8A5EE}"/>
                </a:ext>
              </a:extLst>
            </p:cNvPr>
            <p:cNvSpPr/>
            <p:nvPr/>
          </p:nvSpPr>
          <p:spPr>
            <a:xfrm>
              <a:off x="7190965" y="1601633"/>
              <a:ext cx="18288" cy="18288"/>
            </a:xfrm>
            <a:prstGeom prst="ellipse">
              <a:avLst/>
            </a:prstGeom>
            <a:solidFill>
              <a:srgbClr val="486B8E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ED9E56C4-F61E-6897-A7F9-E1D604D7FB9B}"/>
                </a:ext>
              </a:extLst>
            </p:cNvPr>
            <p:cNvSpPr/>
            <p:nvPr/>
          </p:nvSpPr>
          <p:spPr>
            <a:xfrm>
              <a:off x="7055503" y="1539276"/>
              <a:ext cx="18288" cy="18288"/>
            </a:xfrm>
            <a:prstGeom prst="ellipse">
              <a:avLst/>
            </a:prstGeom>
            <a:solidFill>
              <a:srgbClr val="486B8E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0344F4B2-17D7-FF2E-7F58-9069F34A4F9E}"/>
                </a:ext>
              </a:extLst>
            </p:cNvPr>
            <p:cNvSpPr/>
            <p:nvPr/>
          </p:nvSpPr>
          <p:spPr>
            <a:xfrm>
              <a:off x="6941203" y="1440851"/>
              <a:ext cx="18288" cy="18288"/>
            </a:xfrm>
            <a:prstGeom prst="ellipse">
              <a:avLst/>
            </a:prstGeom>
            <a:solidFill>
              <a:srgbClr val="486B8E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943EB329-1042-4F72-CCAF-71E820C64DBE}"/>
                </a:ext>
              </a:extLst>
            </p:cNvPr>
            <p:cNvSpPr/>
            <p:nvPr/>
          </p:nvSpPr>
          <p:spPr>
            <a:xfrm>
              <a:off x="7106303" y="1456726"/>
              <a:ext cx="18288" cy="18288"/>
            </a:xfrm>
            <a:prstGeom prst="ellipse">
              <a:avLst/>
            </a:prstGeom>
            <a:solidFill>
              <a:srgbClr val="486B8E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F84E85AF-DE83-17A8-6B98-FF196A1B97C6}"/>
                </a:ext>
              </a:extLst>
            </p:cNvPr>
            <p:cNvSpPr/>
            <p:nvPr/>
          </p:nvSpPr>
          <p:spPr>
            <a:xfrm>
              <a:off x="6974875" y="1610777"/>
              <a:ext cx="18288" cy="18288"/>
            </a:xfrm>
            <a:prstGeom prst="ellipse">
              <a:avLst/>
            </a:prstGeom>
            <a:solidFill>
              <a:srgbClr val="486B8E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07824648-7013-B174-8407-4050C9022BA7}"/>
              </a:ext>
            </a:extLst>
          </p:cNvPr>
          <p:cNvGrpSpPr/>
          <p:nvPr/>
        </p:nvGrpSpPr>
        <p:grpSpPr>
          <a:xfrm rot="8335457">
            <a:off x="4953076" y="1211214"/>
            <a:ext cx="306150" cy="188214"/>
            <a:chOff x="6903103" y="1440851"/>
            <a:chExt cx="306150" cy="188214"/>
          </a:xfrm>
        </p:grpSpPr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E3B0C377-78B7-EFE4-515E-E4DDB90A76C6}"/>
                </a:ext>
              </a:extLst>
            </p:cNvPr>
            <p:cNvSpPr/>
            <p:nvPr/>
          </p:nvSpPr>
          <p:spPr>
            <a:xfrm>
              <a:off x="6903103" y="1542451"/>
              <a:ext cx="18288" cy="18288"/>
            </a:xfrm>
            <a:prstGeom prst="ellipse">
              <a:avLst/>
            </a:prstGeom>
            <a:solidFill>
              <a:srgbClr val="486B8E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2B512EEF-F6EA-A0F5-B796-2C405F2BCEE0}"/>
                </a:ext>
              </a:extLst>
            </p:cNvPr>
            <p:cNvSpPr/>
            <p:nvPr/>
          </p:nvSpPr>
          <p:spPr>
            <a:xfrm>
              <a:off x="7190965" y="1601633"/>
              <a:ext cx="18288" cy="18288"/>
            </a:xfrm>
            <a:prstGeom prst="ellipse">
              <a:avLst/>
            </a:prstGeom>
            <a:solidFill>
              <a:srgbClr val="486B8E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AA75D6D0-8DEA-279F-1D54-A291244151A8}"/>
                </a:ext>
              </a:extLst>
            </p:cNvPr>
            <p:cNvSpPr/>
            <p:nvPr/>
          </p:nvSpPr>
          <p:spPr>
            <a:xfrm>
              <a:off x="7055503" y="1539276"/>
              <a:ext cx="18288" cy="18288"/>
            </a:xfrm>
            <a:prstGeom prst="ellipse">
              <a:avLst/>
            </a:prstGeom>
            <a:solidFill>
              <a:srgbClr val="486B8E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8E5BBEFC-812E-DD1C-5617-497BEFB03777}"/>
                </a:ext>
              </a:extLst>
            </p:cNvPr>
            <p:cNvSpPr/>
            <p:nvPr/>
          </p:nvSpPr>
          <p:spPr>
            <a:xfrm>
              <a:off x="6941203" y="1440851"/>
              <a:ext cx="18288" cy="18288"/>
            </a:xfrm>
            <a:prstGeom prst="ellipse">
              <a:avLst/>
            </a:prstGeom>
            <a:solidFill>
              <a:srgbClr val="486B8E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5EE3BF40-6CDF-24E4-2A1D-A0132D7737C2}"/>
                </a:ext>
              </a:extLst>
            </p:cNvPr>
            <p:cNvSpPr/>
            <p:nvPr/>
          </p:nvSpPr>
          <p:spPr>
            <a:xfrm>
              <a:off x="7106303" y="1456726"/>
              <a:ext cx="18288" cy="18288"/>
            </a:xfrm>
            <a:prstGeom prst="ellipse">
              <a:avLst/>
            </a:prstGeom>
            <a:solidFill>
              <a:srgbClr val="486B8E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126FA5E4-71D3-FF4E-FC57-6C2DFF4B6E4B}"/>
                </a:ext>
              </a:extLst>
            </p:cNvPr>
            <p:cNvSpPr/>
            <p:nvPr/>
          </p:nvSpPr>
          <p:spPr>
            <a:xfrm>
              <a:off x="6974875" y="1610777"/>
              <a:ext cx="18288" cy="18288"/>
            </a:xfrm>
            <a:prstGeom prst="ellipse">
              <a:avLst/>
            </a:prstGeom>
            <a:solidFill>
              <a:srgbClr val="486B8E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2" name="Picture 161">
            <a:extLst>
              <a:ext uri="{FF2B5EF4-FFF2-40B4-BE49-F238E27FC236}">
                <a16:creationId xmlns:a16="http://schemas.microsoft.com/office/drawing/2014/main" id="{C4AFE173-4E49-C24E-7051-6F67039510AA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22458" r="26776"/>
          <a:stretch>
            <a:fillRect/>
          </a:stretch>
        </p:blipFill>
        <p:spPr>
          <a:xfrm>
            <a:off x="3506307" y="828462"/>
            <a:ext cx="294358" cy="314099"/>
          </a:xfrm>
          <a:prstGeom prst="rect">
            <a:avLst/>
          </a:prstGeom>
        </p:spPr>
      </p:pic>
      <p:pic>
        <p:nvPicPr>
          <p:cNvPr id="163" name="Picture 162">
            <a:extLst>
              <a:ext uri="{FF2B5EF4-FFF2-40B4-BE49-F238E27FC236}">
                <a16:creationId xmlns:a16="http://schemas.microsoft.com/office/drawing/2014/main" id="{BF3E34C9-1DB2-7C21-19F2-123094087953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alphaModFix amt="53000"/>
          </a:blip>
          <a:srcRect b="61991"/>
          <a:stretch>
            <a:fillRect/>
          </a:stretch>
        </p:blipFill>
        <p:spPr>
          <a:xfrm>
            <a:off x="793592" y="2718821"/>
            <a:ext cx="930030" cy="320531"/>
          </a:xfrm>
          <a:prstGeom prst="rect">
            <a:avLst/>
          </a:prstGeom>
        </p:spPr>
      </p:pic>
      <p:sp>
        <p:nvSpPr>
          <p:cNvPr id="165" name="TextBox 164">
            <a:extLst>
              <a:ext uri="{FF2B5EF4-FFF2-40B4-BE49-F238E27FC236}">
                <a16:creationId xmlns:a16="http://schemas.microsoft.com/office/drawing/2014/main" id="{019D4CE2-CECB-FF54-F825-9CC2E0EA73F1}"/>
              </a:ext>
            </a:extLst>
          </p:cNvPr>
          <p:cNvSpPr txBox="1"/>
          <p:nvPr/>
        </p:nvSpPr>
        <p:spPr>
          <a:xfrm>
            <a:off x="804518" y="2650986"/>
            <a:ext cx="9081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HCM COHORT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 = 398)</a:t>
            </a:r>
          </a:p>
        </p:txBody>
      </p: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53FDFD88-D110-BBCB-1B9B-448ADD74B9BD}"/>
              </a:ext>
            </a:extLst>
          </p:cNvPr>
          <p:cNvCxnSpPr>
            <a:cxnSpLocks/>
          </p:cNvCxnSpPr>
          <p:nvPr/>
        </p:nvCxnSpPr>
        <p:spPr>
          <a:xfrm flipH="1" flipV="1">
            <a:off x="5458502" y="902886"/>
            <a:ext cx="2248" cy="624233"/>
          </a:xfrm>
          <a:prstGeom prst="line">
            <a:avLst/>
          </a:prstGeom>
          <a:ln w="9525" cap="rnd">
            <a:solidFill>
              <a:schemeClr val="bg1">
                <a:lumMod val="75000"/>
              </a:schemeClr>
            </a:solidFill>
            <a:prstDash val="sysDash"/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72F199DF-682E-BC42-7EF7-8505AA93C105}"/>
              </a:ext>
            </a:extLst>
          </p:cNvPr>
          <p:cNvCxnSpPr>
            <a:cxnSpLocks/>
          </p:cNvCxnSpPr>
          <p:nvPr/>
        </p:nvCxnSpPr>
        <p:spPr>
          <a:xfrm flipV="1">
            <a:off x="4962525" y="1086996"/>
            <a:ext cx="492273" cy="279429"/>
          </a:xfrm>
          <a:prstGeom prst="line">
            <a:avLst/>
          </a:prstGeom>
          <a:ln w="12700" cap="rnd">
            <a:solidFill>
              <a:srgbClr val="486B8E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5CB91A50-31E3-5FB0-6F85-C422D87C3469}"/>
              </a:ext>
            </a:extLst>
          </p:cNvPr>
          <p:cNvCxnSpPr>
            <a:cxnSpLocks/>
          </p:cNvCxnSpPr>
          <p:nvPr/>
        </p:nvCxnSpPr>
        <p:spPr>
          <a:xfrm flipH="1">
            <a:off x="5459301" y="1091379"/>
            <a:ext cx="449932" cy="0"/>
          </a:xfrm>
          <a:prstGeom prst="line">
            <a:avLst/>
          </a:prstGeom>
          <a:ln w="12700" cap="rnd">
            <a:solidFill>
              <a:srgbClr val="486B8E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B088CDD3-F38A-AC78-0AC3-16545212D679}"/>
              </a:ext>
            </a:extLst>
          </p:cNvPr>
          <p:cNvSpPr txBox="1"/>
          <p:nvPr/>
        </p:nvSpPr>
        <p:spPr>
          <a:xfrm>
            <a:off x="5669094" y="797583"/>
            <a:ext cx="1011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Piecewise nonlinear modeling (</a:t>
            </a:r>
            <a:r>
              <a:rPr lang="en-US" sz="600" b="1" dirty="0">
                <a:latin typeface="Arial" panose="020B0604020202020204" pitchFamily="34" charset="0"/>
                <a:cs typeface="Arial" panose="020B0604020202020204" pitchFamily="34" charset="0"/>
              </a:rPr>
              <a:t>SEAMLSS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A1FC5631-6A32-BDAD-9F2E-1A9E261A0B08}"/>
              </a:ext>
            </a:extLst>
          </p:cNvPr>
          <p:cNvSpPr/>
          <p:nvPr/>
        </p:nvSpPr>
        <p:spPr>
          <a:xfrm>
            <a:off x="4673435" y="2802164"/>
            <a:ext cx="184667" cy="81279"/>
          </a:xfrm>
          <a:prstGeom prst="rect">
            <a:avLst/>
          </a:prstGeom>
          <a:solidFill>
            <a:srgbClr val="486B8E"/>
          </a:solidFill>
          <a:ln cap="rnd">
            <a:solidFill>
              <a:srgbClr val="486B8E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D7F60BF-B81F-2C58-5F2C-81CAC28152E5}"/>
              </a:ext>
            </a:extLst>
          </p:cNvPr>
          <p:cNvSpPr/>
          <p:nvPr/>
        </p:nvSpPr>
        <p:spPr>
          <a:xfrm>
            <a:off x="6450303" y="2802164"/>
            <a:ext cx="184667" cy="81279"/>
          </a:xfrm>
          <a:prstGeom prst="rect">
            <a:avLst/>
          </a:prstGeom>
          <a:solidFill>
            <a:srgbClr val="486B8E"/>
          </a:solidFill>
          <a:ln cap="rnd">
            <a:solidFill>
              <a:srgbClr val="486B8E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461D433D-0055-1601-AA6C-B4CD7ED295AC}"/>
              </a:ext>
            </a:extLst>
          </p:cNvPr>
          <p:cNvCxnSpPr>
            <a:cxnSpLocks/>
          </p:cNvCxnSpPr>
          <p:nvPr/>
        </p:nvCxnSpPr>
        <p:spPr>
          <a:xfrm flipV="1">
            <a:off x="6038850" y="1043260"/>
            <a:ext cx="52599" cy="58228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8C0DE3BB-239E-AA24-BDF9-F0AAA37B139F}"/>
              </a:ext>
            </a:extLst>
          </p:cNvPr>
          <p:cNvSpPr txBox="1"/>
          <p:nvPr/>
        </p:nvSpPr>
        <p:spPr>
          <a:xfrm>
            <a:off x="5740108" y="1881094"/>
            <a:ext cx="93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Generalized Additive Mixed Model (</a:t>
            </a:r>
            <a:r>
              <a:rPr lang="en-US" sz="600" b="1" dirty="0">
                <a:latin typeface="Arial" panose="020B0604020202020204" pitchFamily="34" charset="0"/>
                <a:cs typeface="Arial" panose="020B0604020202020204" pitchFamily="34" charset="0"/>
              </a:rPr>
              <a:t>GAMM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EB739847-222E-9650-C20A-DC7426D95A54}"/>
              </a:ext>
            </a:extLst>
          </p:cNvPr>
          <p:cNvCxnSpPr>
            <a:cxnSpLocks/>
          </p:cNvCxnSpPr>
          <p:nvPr/>
        </p:nvCxnSpPr>
        <p:spPr>
          <a:xfrm flipV="1">
            <a:off x="5800641" y="2145823"/>
            <a:ext cx="91421" cy="70328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4337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FBFBCAC-FA89-7781-6D80-AADF04DF45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663095"/>
              </p:ext>
            </p:extLst>
          </p:nvPr>
        </p:nvGraphicFramePr>
        <p:xfrm>
          <a:off x="218440" y="265240"/>
          <a:ext cx="3210560" cy="3676215"/>
        </p:xfrm>
        <a:graphic>
          <a:graphicData uri="http://schemas.openxmlformats.org/drawingml/2006/table">
            <a:tbl>
              <a:tblPr firstRow="1" bandRow="1"/>
              <a:tblGrid>
                <a:gridCol w="2057400">
                  <a:extLst>
                    <a:ext uri="{9D8B030D-6E8A-4147-A177-3AD203B41FA5}">
                      <a16:colId xmlns:a16="http://schemas.microsoft.com/office/drawing/2014/main" val="2344283046"/>
                    </a:ext>
                  </a:extLst>
                </a:gridCol>
                <a:gridCol w="1153160">
                  <a:extLst>
                    <a:ext uri="{9D8B030D-6E8A-4147-A177-3AD203B41FA5}">
                      <a16:colId xmlns:a16="http://schemas.microsoft.com/office/drawing/2014/main" val="30825517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buNone/>
                      </a:pPr>
                      <a:r>
                        <a:rPr lang="en-US" sz="12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Characteristic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2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 = 397</a:t>
                      </a:r>
                      <a:r>
                        <a:rPr lang="en-US" sz="1200" kern="100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886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buNone/>
                      </a:pPr>
                      <a:r>
                        <a:rPr lang="en-US" sz="12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Age, years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47.3 (16.1)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747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buNone/>
                      </a:pPr>
                      <a:r>
                        <a:rPr lang="en-US" sz="12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Sex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342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Male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248 (62%)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2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Female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149 (38%)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74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buNone/>
                      </a:pPr>
                      <a:r>
                        <a:rPr lang="en-US" sz="12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Body Mass Index, kg/m²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27.2 (5.7)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314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buNone/>
                      </a:pPr>
                      <a:r>
                        <a:rPr lang="en-US" sz="12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Body Surface Area, m²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1.9 (0.3)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457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buNone/>
                      </a:pPr>
                      <a:r>
                        <a:rPr lang="en-US" sz="12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Lean Body Mass Index, kg/m²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23.4 (5.8)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305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buNone/>
                      </a:pPr>
                      <a:r>
                        <a:rPr lang="en-US" sz="12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HCM Phenotype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382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Apical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49 (14%)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884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Asymmetric Septal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253 (72%)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5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Burned-out 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 (0.9%)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2197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Symmetric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45 (13%)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477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buNone/>
                      </a:pPr>
                      <a:r>
                        <a:rPr lang="en-US" sz="12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Peak RER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1.1 (0.1)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057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buNone/>
                      </a:pPr>
                      <a:r>
                        <a:rPr lang="en-US" sz="12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Peak VO₂ (PP - FRIEND 2.0)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75.5 (236.9)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746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buNone/>
                      </a:pPr>
                      <a:r>
                        <a:rPr lang="en-US" sz="12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VO</a:t>
                      </a:r>
                      <a:r>
                        <a:rPr lang="en-US" sz="1200" b="1" kern="100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r>
                        <a:rPr lang="en-US" sz="12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(PP – WASSERMAN)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98.8 (83.2)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920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buNone/>
                      </a:pPr>
                      <a:r>
                        <a:rPr lang="en-US" sz="12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VE/VCO₂ Slope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31.3 (5.8)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968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buNone/>
                      </a:pPr>
                      <a:r>
                        <a:rPr lang="en-US" sz="12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Heart Rate Recovery (1-min)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27.5 (11.8)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470574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Mean (SD); n (%)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2429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C65F521-2E8A-A108-546E-BE2BCF73AD50}"/>
              </a:ext>
            </a:extLst>
          </p:cNvPr>
          <p:cNvSpPr txBox="1"/>
          <p:nvPr/>
        </p:nvSpPr>
        <p:spPr>
          <a:xfrm>
            <a:off x="6154153" y="0"/>
            <a:ext cx="7038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Table 1</a:t>
            </a:r>
          </a:p>
        </p:txBody>
      </p:sp>
    </p:spTree>
    <p:extLst>
      <p:ext uri="{BB962C8B-B14F-4D97-AF65-F5344CB8AC3E}">
        <p14:creationId xmlns:p14="http://schemas.microsoft.com/office/powerpoint/2010/main" val="4140514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0941CC-A8DE-3D7A-7C39-9A66F0A9DD67}"/>
              </a:ext>
            </a:extLst>
          </p:cNvPr>
          <p:cNvSpPr txBox="1"/>
          <p:nvPr/>
        </p:nvSpPr>
        <p:spPr>
          <a:xfrm>
            <a:off x="0" y="0"/>
            <a:ext cx="42627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Figure 1: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Study cohort and baseline phenotypic distribution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9D568D-C72C-0A64-99A2-02C1D72A5774}"/>
              </a:ext>
            </a:extLst>
          </p:cNvPr>
          <p:cNvSpPr txBox="1"/>
          <p:nvPr/>
        </p:nvSpPr>
        <p:spPr>
          <a:xfrm>
            <a:off x="0" y="4713531"/>
            <a:ext cx="33020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F.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Distribution of ASE 2025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diastolic grades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75261F-01A4-B12F-6D7D-B216FA0E89D7}"/>
              </a:ext>
            </a:extLst>
          </p:cNvPr>
          <p:cNvSpPr/>
          <p:nvPr/>
        </p:nvSpPr>
        <p:spPr>
          <a:xfrm>
            <a:off x="199273" y="5062182"/>
            <a:ext cx="6540193" cy="2490167"/>
          </a:xfrm>
          <a:prstGeom prst="rect">
            <a:avLst/>
          </a:prstGeom>
          <a:solidFill>
            <a:srgbClr val="F3F8FB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buAutoNum type="arabicPeriod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E/e’</a:t>
            </a:r>
          </a:p>
          <a:p>
            <a:pPr marL="228600" indent="-228600">
              <a:buAutoNum type="arabicPeriod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LAVI</a:t>
            </a:r>
          </a:p>
          <a:p>
            <a:pPr marL="228600" indent="-228600">
              <a:buAutoNum type="arabicPeriod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A-</a:t>
            </a:r>
            <a:r>
              <a:rPr lang="en-U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Duration difference</a:t>
            </a:r>
          </a:p>
          <a:p>
            <a:pPr marL="228600" indent="-228600">
              <a:buAutoNum type="arabicPeriod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 velocity</a:t>
            </a:r>
          </a:p>
          <a:p>
            <a:pPr marL="228600" indent="-228600">
              <a:buAutoNum type="arabicPeriod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</a:t>
            </a:r>
          </a:p>
          <a:p>
            <a:pPr marL="228600" indent="-228600">
              <a:buAutoNum type="arabicPeriod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LVOT Gradient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55738DC-88AD-D2F1-DBAF-26C6A94C11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76"/>
          <a:stretch>
            <a:fillRect/>
          </a:stretch>
        </p:blipFill>
        <p:spPr>
          <a:xfrm>
            <a:off x="0" y="348651"/>
            <a:ext cx="6858000" cy="441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038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886122-87A1-8A76-BE68-85D357FB21B6}"/>
              </a:ext>
            </a:extLst>
          </p:cNvPr>
          <p:cNvSpPr txBox="1"/>
          <p:nvPr/>
        </p:nvSpPr>
        <p:spPr>
          <a:xfrm>
            <a:off x="0" y="0"/>
            <a:ext cx="6381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Figure 2: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Primary endpoint – cardiorespiratory fitness as a function of diastolic dysfunction.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08E85B-9FA8-5482-BE84-8B8495893781}"/>
              </a:ext>
            </a:extLst>
          </p:cNvPr>
          <p:cNvSpPr/>
          <p:nvPr/>
        </p:nvSpPr>
        <p:spPr>
          <a:xfrm>
            <a:off x="340779" y="665597"/>
            <a:ext cx="2856915" cy="2490167"/>
          </a:xfrm>
          <a:prstGeom prst="rect">
            <a:avLst/>
          </a:prstGeom>
          <a:solidFill>
            <a:srgbClr val="F3F8FB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Box plots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5372B3-BF6D-1F8D-59D5-CB87653A3458}"/>
              </a:ext>
            </a:extLst>
          </p:cNvPr>
          <p:cNvSpPr txBox="1"/>
          <p:nvPr/>
        </p:nvSpPr>
        <p:spPr>
          <a:xfrm>
            <a:off x="0" y="289513"/>
            <a:ext cx="2721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A.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Peak VO2 by ASE Diastolic Grade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551D09-4D77-CCD3-1CEA-065E08D00A8F}"/>
              </a:ext>
            </a:extLst>
          </p:cNvPr>
          <p:cNvSpPr txBox="1"/>
          <p:nvPr/>
        </p:nvSpPr>
        <p:spPr>
          <a:xfrm>
            <a:off x="3467100" y="289512"/>
            <a:ext cx="30968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B.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VE/VCO2 slope by ASE Diastolic Grade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0C2351-A99D-6357-8AFC-2980355ADC60}"/>
              </a:ext>
            </a:extLst>
          </p:cNvPr>
          <p:cNvSpPr/>
          <p:nvPr/>
        </p:nvSpPr>
        <p:spPr>
          <a:xfrm>
            <a:off x="3834111" y="665595"/>
            <a:ext cx="2810168" cy="2490167"/>
          </a:xfrm>
          <a:prstGeom prst="rect">
            <a:avLst/>
          </a:prstGeom>
          <a:solidFill>
            <a:srgbClr val="F3F8FB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Box plots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582337-73AF-CA97-E15F-B3D4CB794EDC}"/>
              </a:ext>
            </a:extLst>
          </p:cNvPr>
          <p:cNvSpPr txBox="1"/>
          <p:nvPr/>
        </p:nvSpPr>
        <p:spPr>
          <a:xfrm rot="16200000">
            <a:off x="-774110" y="1746797"/>
            <a:ext cx="19527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Peak VO2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(mL/min/kg L.B.M.)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81B063-D015-5817-2D3B-9DE9A137019E}"/>
              </a:ext>
            </a:extLst>
          </p:cNvPr>
          <p:cNvSpPr txBox="1"/>
          <p:nvPr/>
        </p:nvSpPr>
        <p:spPr>
          <a:xfrm rot="16200000">
            <a:off x="2347330" y="1746796"/>
            <a:ext cx="26965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VE/VCO2 Slope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([dimensionless]/kg L.B.M.)</a:t>
            </a:r>
          </a:p>
        </p:txBody>
      </p:sp>
    </p:spTree>
    <p:extLst>
      <p:ext uri="{BB962C8B-B14F-4D97-AF65-F5344CB8AC3E}">
        <p14:creationId xmlns:p14="http://schemas.microsoft.com/office/powerpoint/2010/main" val="1565062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4598B-FF5A-F652-E81E-DF7C55F8B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A6DFD0-61C2-3BDD-BCA3-4E0FA3CE43A9}"/>
              </a:ext>
            </a:extLst>
          </p:cNvPr>
          <p:cNvSpPr txBox="1"/>
          <p:nvPr/>
        </p:nvSpPr>
        <p:spPr>
          <a:xfrm>
            <a:off x="0" y="0"/>
            <a:ext cx="6511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Figure 3: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Continuous nonlinear modeling via SEAMLSS between pVO</a:t>
            </a:r>
            <a:r>
              <a:rPr lang="en-US" sz="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and diastolic indices.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FE4A63-3FE1-A8C7-1626-799B3087E6EC}"/>
              </a:ext>
            </a:extLst>
          </p:cNvPr>
          <p:cNvSpPr/>
          <p:nvPr/>
        </p:nvSpPr>
        <p:spPr>
          <a:xfrm>
            <a:off x="340779" y="665597"/>
            <a:ext cx="2856915" cy="2490167"/>
          </a:xfrm>
          <a:prstGeom prst="rect">
            <a:avLst/>
          </a:prstGeom>
          <a:solidFill>
            <a:srgbClr val="F3F8FB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8AFBF5-534F-0DBA-D144-EC2654E82D8D}"/>
              </a:ext>
            </a:extLst>
          </p:cNvPr>
          <p:cNvSpPr txBox="1"/>
          <p:nvPr/>
        </p:nvSpPr>
        <p:spPr>
          <a:xfrm>
            <a:off x="0" y="289513"/>
            <a:ext cx="12875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A.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pVO</a:t>
            </a:r>
            <a:r>
              <a:rPr lang="en-US" sz="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by E/e’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F5A963-FFA7-18EE-3BB3-91085D44544C}"/>
              </a:ext>
            </a:extLst>
          </p:cNvPr>
          <p:cNvSpPr txBox="1"/>
          <p:nvPr/>
        </p:nvSpPr>
        <p:spPr>
          <a:xfrm>
            <a:off x="3467100" y="289512"/>
            <a:ext cx="13450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B.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pVO</a:t>
            </a:r>
            <a:r>
              <a:rPr lang="en-US" sz="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by LAVI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F9B7EB-E216-61A6-7073-5DA52DD89EFC}"/>
              </a:ext>
            </a:extLst>
          </p:cNvPr>
          <p:cNvSpPr/>
          <p:nvPr/>
        </p:nvSpPr>
        <p:spPr>
          <a:xfrm>
            <a:off x="3834111" y="665595"/>
            <a:ext cx="2810168" cy="2490167"/>
          </a:xfrm>
          <a:prstGeom prst="rect">
            <a:avLst/>
          </a:prstGeom>
          <a:solidFill>
            <a:srgbClr val="F3F8FB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27F5A5-A66A-0484-A8A5-F4D01590F2D6}"/>
              </a:ext>
            </a:extLst>
          </p:cNvPr>
          <p:cNvSpPr txBox="1"/>
          <p:nvPr/>
        </p:nvSpPr>
        <p:spPr>
          <a:xfrm rot="16200000">
            <a:off x="-774110" y="1746797"/>
            <a:ext cx="19527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Peak VO2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(mL/min/kg L.B.M.)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70E95E-5567-1541-18BC-1179770E6EEE}"/>
              </a:ext>
            </a:extLst>
          </p:cNvPr>
          <p:cNvSpPr txBox="1"/>
          <p:nvPr/>
        </p:nvSpPr>
        <p:spPr>
          <a:xfrm rot="16200000">
            <a:off x="2752088" y="1746796"/>
            <a:ext cx="18870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Peak VO2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(mL/min/kg L.B.M.)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A900F3-75EE-A79B-76D1-9B2A10688498}"/>
              </a:ext>
            </a:extLst>
          </p:cNvPr>
          <p:cNvSpPr txBox="1"/>
          <p:nvPr/>
        </p:nvSpPr>
        <p:spPr>
          <a:xfrm>
            <a:off x="1544655" y="3155762"/>
            <a:ext cx="4106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E/e’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59C1FF-56BC-C603-EE85-3E1EA627E13E}"/>
              </a:ext>
            </a:extLst>
          </p:cNvPr>
          <p:cNvSpPr txBox="1"/>
          <p:nvPr/>
        </p:nvSpPr>
        <p:spPr>
          <a:xfrm>
            <a:off x="4247895" y="3141322"/>
            <a:ext cx="21820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Left Atrial Volume Index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(mL/m</a:t>
            </a:r>
            <a:r>
              <a:rPr lang="en-US" sz="10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5ACC35-DB3B-15A9-E124-82F23832776D}"/>
              </a:ext>
            </a:extLst>
          </p:cNvPr>
          <p:cNvSpPr/>
          <p:nvPr/>
        </p:nvSpPr>
        <p:spPr>
          <a:xfrm>
            <a:off x="325391" y="3763628"/>
            <a:ext cx="2856915" cy="2490167"/>
          </a:xfrm>
          <a:prstGeom prst="rect">
            <a:avLst/>
          </a:prstGeom>
          <a:solidFill>
            <a:srgbClr val="F3F8FB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1F4315-0D8B-9E6F-713B-9B7B40A0F997}"/>
              </a:ext>
            </a:extLst>
          </p:cNvPr>
          <p:cNvSpPr txBox="1"/>
          <p:nvPr/>
        </p:nvSpPr>
        <p:spPr>
          <a:xfrm>
            <a:off x="-15388" y="3387544"/>
            <a:ext cx="20260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C.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pVO</a:t>
            </a:r>
            <a:r>
              <a:rPr lang="en-US" sz="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by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-A Difference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0DDB61-BCF1-D758-8004-4E1522ABF984}"/>
              </a:ext>
            </a:extLst>
          </p:cNvPr>
          <p:cNvSpPr txBox="1"/>
          <p:nvPr/>
        </p:nvSpPr>
        <p:spPr>
          <a:xfrm>
            <a:off x="3451712" y="3387543"/>
            <a:ext cx="1752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D.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pVO</a:t>
            </a:r>
            <a:r>
              <a:rPr lang="en-US" sz="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by TR velocity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5C452A-22D7-6E1A-86D5-851E61708EA0}"/>
              </a:ext>
            </a:extLst>
          </p:cNvPr>
          <p:cNvSpPr/>
          <p:nvPr/>
        </p:nvSpPr>
        <p:spPr>
          <a:xfrm>
            <a:off x="3818723" y="3763626"/>
            <a:ext cx="2810168" cy="2490167"/>
          </a:xfrm>
          <a:prstGeom prst="rect">
            <a:avLst/>
          </a:prstGeom>
          <a:solidFill>
            <a:srgbClr val="F3F8FB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buAutoNum type="arabicPeriod"/>
            </a:pP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D6E742-CB1B-9F95-1F70-121732D075AA}"/>
              </a:ext>
            </a:extLst>
          </p:cNvPr>
          <p:cNvSpPr txBox="1"/>
          <p:nvPr/>
        </p:nvSpPr>
        <p:spPr>
          <a:xfrm rot="16200000">
            <a:off x="-789498" y="4844828"/>
            <a:ext cx="19527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Peak VO2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(mL/min/kg L.B.M.)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FA464F-3FD0-943A-AFA9-43917FE7FA75}"/>
              </a:ext>
            </a:extLst>
          </p:cNvPr>
          <p:cNvSpPr txBox="1"/>
          <p:nvPr/>
        </p:nvSpPr>
        <p:spPr>
          <a:xfrm rot="16200000">
            <a:off x="2736700" y="4844827"/>
            <a:ext cx="18870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Peak VO2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(mL/min/kg L.B.M.)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0382FF-0A4D-7E2F-C354-F9E6DC877C79}"/>
              </a:ext>
            </a:extLst>
          </p:cNvPr>
          <p:cNvSpPr txBox="1"/>
          <p:nvPr/>
        </p:nvSpPr>
        <p:spPr>
          <a:xfrm>
            <a:off x="1067252" y="6253793"/>
            <a:ext cx="1430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Ar-A Difference (ms)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2443D2-24A6-AC9C-A114-EC1D6BE93EBA}"/>
              </a:ext>
            </a:extLst>
          </p:cNvPr>
          <p:cNvSpPr txBox="1"/>
          <p:nvPr/>
        </p:nvSpPr>
        <p:spPr>
          <a:xfrm>
            <a:off x="4011126" y="6239353"/>
            <a:ext cx="24801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Tricuspid Regurgitation velocity (m/s)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9AC243-CE97-D6FF-B843-16560952C0C4}"/>
              </a:ext>
            </a:extLst>
          </p:cNvPr>
          <p:cNvSpPr txBox="1"/>
          <p:nvPr/>
        </p:nvSpPr>
        <p:spPr>
          <a:xfrm rot="5400000">
            <a:off x="5421568" y="1813710"/>
            <a:ext cx="26965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VE/VCO2 Slope 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([dimensionless]/kg L.B.M.)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F9BA55-79B5-535C-552C-436F37761412}"/>
              </a:ext>
            </a:extLst>
          </p:cNvPr>
          <p:cNvSpPr txBox="1"/>
          <p:nvPr/>
        </p:nvSpPr>
        <p:spPr>
          <a:xfrm rot="5400000">
            <a:off x="5406180" y="4911741"/>
            <a:ext cx="26965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VE/VCO2 Slope 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([dimensionless]/kg L.B.M.)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C6B6D8-35D7-91EE-11D0-E2BBE494AD28}"/>
              </a:ext>
            </a:extLst>
          </p:cNvPr>
          <p:cNvSpPr txBox="1"/>
          <p:nvPr/>
        </p:nvSpPr>
        <p:spPr>
          <a:xfrm rot="5400000">
            <a:off x="1964290" y="1813711"/>
            <a:ext cx="26965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VE/VCO2 Slope 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([dimensionless]/kg L.B.M.)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04A914-133F-A223-A95F-909D1DEB7857}"/>
              </a:ext>
            </a:extLst>
          </p:cNvPr>
          <p:cNvSpPr txBox="1"/>
          <p:nvPr/>
        </p:nvSpPr>
        <p:spPr>
          <a:xfrm rot="5400000">
            <a:off x="1948902" y="4911742"/>
            <a:ext cx="26965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VE/VCO2 Slope 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([dimensionless]/kg L.B.M.)</a:t>
            </a:r>
          </a:p>
        </p:txBody>
      </p:sp>
    </p:spTree>
    <p:extLst>
      <p:ext uri="{BB962C8B-B14F-4D97-AF65-F5344CB8AC3E}">
        <p14:creationId xmlns:p14="http://schemas.microsoft.com/office/powerpoint/2010/main" val="3447057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19344-6855-6C93-BB95-DDC0920BB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7D3110-9AFB-2442-0222-4702D95F4D67}"/>
              </a:ext>
            </a:extLst>
          </p:cNvPr>
          <p:cNvSpPr txBox="1"/>
          <p:nvPr/>
        </p:nvSpPr>
        <p:spPr>
          <a:xfrm>
            <a:off x="0" y="0"/>
            <a:ext cx="4289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Figure 4: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Predicting fitness trajectory using diastolic indices.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82AAFA-1166-9C6A-1F42-92ECC958C76C}"/>
              </a:ext>
            </a:extLst>
          </p:cNvPr>
          <p:cNvSpPr/>
          <p:nvPr/>
        </p:nvSpPr>
        <p:spPr>
          <a:xfrm>
            <a:off x="340779" y="665597"/>
            <a:ext cx="2856915" cy="2490167"/>
          </a:xfrm>
          <a:prstGeom prst="rect">
            <a:avLst/>
          </a:prstGeom>
          <a:solidFill>
            <a:srgbClr val="F3F8FB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F30467-DC6F-BE76-025C-59FC02D3798F}"/>
              </a:ext>
            </a:extLst>
          </p:cNvPr>
          <p:cNvSpPr txBox="1"/>
          <p:nvPr/>
        </p:nvSpPr>
        <p:spPr>
          <a:xfrm>
            <a:off x="0" y="289513"/>
            <a:ext cx="17219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A.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Serial pVO</a:t>
            </a:r>
            <a:r>
              <a:rPr lang="en-US" sz="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by E/e’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2816E7-8C64-1A9B-297D-EFF3D3128795}"/>
              </a:ext>
            </a:extLst>
          </p:cNvPr>
          <p:cNvSpPr txBox="1"/>
          <p:nvPr/>
        </p:nvSpPr>
        <p:spPr>
          <a:xfrm>
            <a:off x="3467100" y="289512"/>
            <a:ext cx="1752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B.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Serial pVO</a:t>
            </a:r>
            <a:r>
              <a:rPr lang="en-US" sz="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by LAVI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20C78C-5ED6-CD30-300D-B17F43896584}"/>
              </a:ext>
            </a:extLst>
          </p:cNvPr>
          <p:cNvSpPr/>
          <p:nvPr/>
        </p:nvSpPr>
        <p:spPr>
          <a:xfrm>
            <a:off x="3834111" y="665595"/>
            <a:ext cx="2810168" cy="2490167"/>
          </a:xfrm>
          <a:prstGeom prst="rect">
            <a:avLst/>
          </a:prstGeom>
          <a:solidFill>
            <a:srgbClr val="F3F8FB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77AA60-C3F9-9923-9639-EC0EF0DEDA06}"/>
              </a:ext>
            </a:extLst>
          </p:cNvPr>
          <p:cNvSpPr txBox="1"/>
          <p:nvPr/>
        </p:nvSpPr>
        <p:spPr>
          <a:xfrm rot="16200000">
            <a:off x="-774110" y="1746797"/>
            <a:ext cx="19527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Peak VO2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(mL/min/kg L.B.M.)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A6CD9B-CB00-1711-E1C6-A3EAA711235D}"/>
              </a:ext>
            </a:extLst>
          </p:cNvPr>
          <p:cNvSpPr txBox="1"/>
          <p:nvPr/>
        </p:nvSpPr>
        <p:spPr>
          <a:xfrm rot="16200000">
            <a:off x="2347330" y="1746796"/>
            <a:ext cx="26965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VE/VCO2 Slope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([dimensionless]/kg L.B.M.)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4D10FD-5143-2C40-8900-A7EDB4723D07}"/>
              </a:ext>
            </a:extLst>
          </p:cNvPr>
          <p:cNvSpPr txBox="1"/>
          <p:nvPr/>
        </p:nvSpPr>
        <p:spPr>
          <a:xfrm>
            <a:off x="1352295" y="3155762"/>
            <a:ext cx="7954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Time (yrs)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D8E9D6-E708-BF83-2864-FF0875493AD6}"/>
              </a:ext>
            </a:extLst>
          </p:cNvPr>
          <p:cNvSpPr txBox="1"/>
          <p:nvPr/>
        </p:nvSpPr>
        <p:spPr>
          <a:xfrm>
            <a:off x="4941194" y="3141322"/>
            <a:ext cx="7954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Time (yrs)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B6827C-CE88-21C7-7B87-FEDE7EDB00D7}"/>
              </a:ext>
            </a:extLst>
          </p:cNvPr>
          <p:cNvSpPr/>
          <p:nvPr/>
        </p:nvSpPr>
        <p:spPr>
          <a:xfrm>
            <a:off x="325391" y="3763628"/>
            <a:ext cx="2856915" cy="2490167"/>
          </a:xfrm>
          <a:prstGeom prst="rect">
            <a:avLst/>
          </a:prstGeom>
          <a:solidFill>
            <a:srgbClr val="F3F8FB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1CE251-BC7E-41F1-D4B5-C67DDF28364D}"/>
              </a:ext>
            </a:extLst>
          </p:cNvPr>
          <p:cNvSpPr txBox="1"/>
          <p:nvPr/>
        </p:nvSpPr>
        <p:spPr>
          <a:xfrm>
            <a:off x="-15388" y="3387544"/>
            <a:ext cx="24604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C.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Serial pVO</a:t>
            </a:r>
            <a:r>
              <a:rPr lang="en-US" sz="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by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-A Difference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86E8BB-5A1A-3E9D-5C2F-D64A25AF92CA}"/>
              </a:ext>
            </a:extLst>
          </p:cNvPr>
          <p:cNvSpPr txBox="1"/>
          <p:nvPr/>
        </p:nvSpPr>
        <p:spPr>
          <a:xfrm>
            <a:off x="3451712" y="3387543"/>
            <a:ext cx="21872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D.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Serial pVO</a:t>
            </a:r>
            <a:r>
              <a:rPr lang="en-US" sz="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by TR velocity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ABCF1C-34EA-58FE-982B-A7A38D5A617F}"/>
              </a:ext>
            </a:extLst>
          </p:cNvPr>
          <p:cNvSpPr/>
          <p:nvPr/>
        </p:nvSpPr>
        <p:spPr>
          <a:xfrm>
            <a:off x="3818723" y="3763626"/>
            <a:ext cx="2810168" cy="2490167"/>
          </a:xfrm>
          <a:prstGeom prst="rect">
            <a:avLst/>
          </a:prstGeom>
          <a:solidFill>
            <a:srgbClr val="F3F8FB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buAutoNum type="arabicPeriod"/>
            </a:pP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C40A9C-A6C8-D9B6-49A2-DCFA65DB73D7}"/>
              </a:ext>
            </a:extLst>
          </p:cNvPr>
          <p:cNvSpPr txBox="1"/>
          <p:nvPr/>
        </p:nvSpPr>
        <p:spPr>
          <a:xfrm rot="16200000">
            <a:off x="-789498" y="4844828"/>
            <a:ext cx="19527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Peak VO2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(mL/min/kg L.B.M.)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8AC5A9-65F1-2BC8-E714-54C16311D23B}"/>
              </a:ext>
            </a:extLst>
          </p:cNvPr>
          <p:cNvSpPr txBox="1"/>
          <p:nvPr/>
        </p:nvSpPr>
        <p:spPr>
          <a:xfrm rot="16200000">
            <a:off x="2331942" y="4844827"/>
            <a:ext cx="26965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VE/VCO2 Slope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([dimensionless]/kg L.B.M.)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9EFA48-1AE6-803F-72E2-18832ED89444}"/>
              </a:ext>
            </a:extLst>
          </p:cNvPr>
          <p:cNvSpPr txBox="1"/>
          <p:nvPr/>
        </p:nvSpPr>
        <p:spPr>
          <a:xfrm>
            <a:off x="1384648" y="6253793"/>
            <a:ext cx="7954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Time (yrs)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BAFF14-C9C6-D522-8CFC-96BF9194F09B}"/>
              </a:ext>
            </a:extLst>
          </p:cNvPr>
          <p:cNvSpPr txBox="1"/>
          <p:nvPr/>
        </p:nvSpPr>
        <p:spPr>
          <a:xfrm>
            <a:off x="4853504" y="6239353"/>
            <a:ext cx="7954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Time (yrs)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1372DD-9B5A-5837-14A6-D9ACDD4B144A}"/>
              </a:ext>
            </a:extLst>
          </p:cNvPr>
          <p:cNvSpPr txBox="1"/>
          <p:nvPr/>
        </p:nvSpPr>
        <p:spPr>
          <a:xfrm rot="5400000">
            <a:off x="5421568" y="1813710"/>
            <a:ext cx="26965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VE/VCO2 Slope 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([dimensionless]/kg L.B.M.)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80A518-32E1-9F89-8448-3EED35FEC9D7}"/>
              </a:ext>
            </a:extLst>
          </p:cNvPr>
          <p:cNvSpPr txBox="1"/>
          <p:nvPr/>
        </p:nvSpPr>
        <p:spPr>
          <a:xfrm rot="5400000">
            <a:off x="5406180" y="4911741"/>
            <a:ext cx="26965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VE/VCO2 Slope 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([dimensionless]/kg L.B.M.)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438191-B014-C29D-2177-54AE7A7B82E8}"/>
              </a:ext>
            </a:extLst>
          </p:cNvPr>
          <p:cNvSpPr txBox="1"/>
          <p:nvPr/>
        </p:nvSpPr>
        <p:spPr>
          <a:xfrm rot="5400000">
            <a:off x="1964290" y="1813711"/>
            <a:ext cx="26965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VE/VCO2 Slope 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([dimensionless]/kg L.B.M.)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622EF2-8967-F6E5-35AA-FF9661BD3160}"/>
              </a:ext>
            </a:extLst>
          </p:cNvPr>
          <p:cNvSpPr txBox="1"/>
          <p:nvPr/>
        </p:nvSpPr>
        <p:spPr>
          <a:xfrm rot="5400000">
            <a:off x="1948902" y="4911742"/>
            <a:ext cx="26965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VE/VCO2 Slope 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([dimensionless]/kg L.B.M.)</a:t>
            </a:r>
          </a:p>
        </p:txBody>
      </p:sp>
    </p:spTree>
    <p:extLst>
      <p:ext uri="{BB962C8B-B14F-4D97-AF65-F5344CB8AC3E}">
        <p14:creationId xmlns:p14="http://schemas.microsoft.com/office/powerpoint/2010/main" val="2895145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cap="rnd">
          <a:round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98B58630-8AC3-6D4B-8A5E-F852E72A98A5}" vid="{FF1122F4-7B12-7A49-849C-2DEF0BCF9B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7075</TotalTime>
  <Words>754</Words>
  <Application>Microsoft Macintosh PowerPoint</Application>
  <PresentationFormat>Custom</PresentationFormat>
  <Paragraphs>132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E. Pépin, MD, PhD</dc:creator>
  <cp:lastModifiedBy>Mark E. Pépin, MD, PhD</cp:lastModifiedBy>
  <cp:revision>42</cp:revision>
  <dcterms:created xsi:type="dcterms:W3CDTF">2026-01-28T18:30:48Z</dcterms:created>
  <dcterms:modified xsi:type="dcterms:W3CDTF">2026-02-09T23:43:31Z</dcterms:modified>
</cp:coreProperties>
</file>